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שקף פתיחה. לא מדברים עליו. הוא נשאר על המסך כשהקהל נכנס.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 3 דקות.
לא מתחילים בילדות. לא מתחילים ב־7 באוקטובר. מתחילים מהרגע שבו הקהל כבר בתוך הסיפור.
להגיד את המשפט. ואז לעצור. לא להסביר עדיין. המטרה: ליצור סקרנות.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מי הייתי לפני הכול – 7 דקות.
לבחור 3–4 רגעים בלבד שהסבירו מי היית. הקהל צריך להבין שאתה לא 'הגיבור שנולד גיבור'.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אני חנוך, בן 24, מיישובי גדרות. ילדות מושבניקית. אח בכור לארבעה.
(להוסיף פרט אחד קטן ומצחיק מהילדות שמחבר את הקהל.)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מהגן הגדירו אותי כ'ילד בעייתי' והייתי מסתבך הרבה.
לתת דוגמה אחת קונקרטית – אירוע אחד, לא 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אירוע אחד בכיתה י' ששינה לי את כל התפיסה. האשימו אותי בבית הספר בסחר בסמים ולא היה לי שום קשר לזה.
בסוף השיחה הם האמינו לי – אבל זה השאיר בי חותם: שיכולים לחשוד בי בדבר כל כך חמור.
זו הפעם הראשונה שהחלטתי לקחת את ההחלטות בחיים שלי בעצמי.
משם הבנתי שאני לא 'ילד רע', וקיבלתי החלטה 'לכתוב את הסיפור שלי' ולשנות את התדמית.
מאותו רגע: חיפוש שנת שירות איכותית, שאיפה לשירות קרבי משמעותי.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המסר של הפרק. לעצור עליו רגע. הקהל צריך להבין: לא הגיבור שנולד גיבור – נער עם הרבה סימני שאלה.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הבחירה – 7 דקות. המעבר לסיירת נח״ל. לא להפוך את זה ל'סיפור צבאי'. הנושא: הפעם הראשונה שבה בחרת מי אתה רוצה להיות.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לדבר על: למה רציתי להגיע לשם (אוהב אתגרים, להוכיח לעצמי). המחיר (קושי פיזי ומנטלי + קשיים בבית). האנשים שהשפיעו – קליין וברנש, המפקצ' והמג"ד. מה הצבא לימד אותי – שהכל בראש ושתמיד אפשר להשתפר.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קליין – תמיד דחף אותנו למצוינות ומקצועיות, לעשות דברים כמו שצריך ועד הסוף. עד היום אני במשטר אימונים בגלל המסגרת שהוא הכניס אותנו אליה.
ברנש – הגיע משלדג, פיקד בתפקידים רבים, עטור שבחים, הישגים מרשימים בכל התחומים. ובכל זאת קודם כל היה אדם: ידע שמות של רוב החיילים, התייעץ איתנו על דברים מבצעיים, דיבר איתנו בשיח חברי ולא כמג"ד-חייל.
השיעור: אפשר להיות הכי טוב ועדיין להישאר בן אדם.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הרעיון המרכזי של הפרק. להגיד, לעצור, ולתת דוגמה של יום אחד במסלול שבו המוטיבציה נגמרה ורק המשמעת נשארה.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באוקטובר – 15 דקות. הלב הרגשי של ההרצאה, אבל לא כל ההרצאה. לספר כמו סרט. לא רק מה קרה – מה חשבת בכל שלב.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לבנות את זה בשלבים: לפני ← ההבנה שמשהו לא רגיל קורה ← הכניסה ללחימה ← המארב ← הפציעה ← ההחלטה להמשיך ← הפינוי.
בכל שלב: מה חשבתי. לא רק מה קרה.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הרגע של הפציעה. לעצור אחרי 'הדבר היחיד שעבר לי בראש היה…' – שנייה של שקט – ואז: תמיד אמרו לנו שמי שלא מתפקד מקבל פוסט טראומה. אז תפקדתי.
(אם רוצים אפקט: להשאיר את השורה התחתונה מוסתרת ולחשוף בלחיצה.)
זו ההחלטה השנייה – אותה החלטה מכיתה י': לפעול, לא לתת לדברים לקרות לי.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הטוויסט של ההרצאה. הקהל מצפה שהשיא היה 7 באוקטובר – ואתה אומר: הקרב היה החלק הקל.
מכאן ההרצאה עוברת מסיפור מלחמה לסיפור חיים.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ואז הכול נגמר – 8 דקות.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איבדתי מעל 19 חברים באותו יום, ובמהלך המלחמה עוד כמעט עשרה. זה הדבר שהיה לי הכי קשה אחרי השביעי.
(אפשר להגיד שם אחד או שניים – זה מקרב את הקהל.)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הפציעה – יד (חוסם עורקים) ועין (רסיס).
השיקום – ארוך ומתיש, לבד רוב הזמן, בלי משככי כאבים, 3 חודשים בתל השומר. (לא להיכנס לסיבה – זה אישי ולא חלק מההרצאה.)
האובדן.
החיים שאחרי – המעבר המהיר בין לוחם לפצוע לאזרח. בעיה לסמוך על אנשים, התרחקות מחברים ומהחברה, קושי במקומות רועשים.
כאן ההרצאה עוברת מסיפור מלחמה לסיפור חיים.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הרגע שבו הפסקתי להתרחק מאנשים: אחרי ריטריט בפנמה. פגשתי אנשים ממש טובים וראיתי שבאמת קיימים כאלה.
לספר: מה עשית שם, מי היו האנשים, מה הרגע הספציפי שבו משהו נפתח.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מה עושים כשהחיים לא חוזרים להיות מה שהיו – 10 דקות. החלק החדש. עליו הדגש.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עיקרון 1 – אתה לא שולט במה שקורה לך, אבל אתה כן שולט במה שאתה עושה עם זה.
עיקרון 2 – לא חייבים לדעת את כל הדרך. רק את הצעד הבא.
עיקרון 3 – זהות לא מקבלים. בונים.
לכל עיקרון: דוגמה אחת מהחיים שלך מאז הפציעה.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להפוך כאב למשהו – 7 דקות.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לימודים, עבודה, הרצאות, מטרות, בניית עתיד, הרצון להתפתח.
המסר: לא תמיד אפשר לבחור את הסיפור שקיבלת. אפשר לבחור מה אתה עושה איתו.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למה אתה בכלל עומד מול הקהל. לא בשביל שירחמו. לא בשביל 'איזה גיבור'. אלא בשביל בן אדם אחד שיחליט לקחת אחריות.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הקהל תמיד שואל את זה, אז עדיף להקדים. אין בי כעס על ההפקרה, על המדינה או על מישהו. אני מקווה שנתאחד בתור עם – זה הדבר הראשון שצריך לקרות בשביל שינוי אמיתי.
לא להיכנס לפוליטיקה. משפט אחד וממשיכים.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הסיום – 3 דקות. חוזרים למשפט מהפתיחה.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כאן סוגרים את המעגל מהפתיחה: 'ההחלטה' לא הייתה רק להמשיך להילחם. ההחלטה הייתה לקחת החלטות ולפעול בחיים של עצמי – כמו שעשיתי כילד, כמו שעשיתי בקרב, כמו שאני עושה היום.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המשפט האחרון. לעצור. לא להוסיף כלום אחריו.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457200" y="457200"/>
            <a:ext cx="5120640" cy="5943600"/>
          </a:xfrm>
          <a:prstGeom prst="roundRect">
            <a:avLst>
              <a:gd name="adj" fmla="val 2679"/>
            </a:avLst>
          </a:prstGeom>
          <a:solidFill>
            <a:srgbClr val="171C24"/>
          </a:solidFill>
          <a:ln w="15875">
            <a:solidFill>
              <a:srgbClr val="3A4150"/>
            </a:solidFill>
            <a:prstDash val="dash"/>
          </a:ln>
        </p:spPr>
      </p:sp>
      <p:pic>
        <p:nvPicPr>
          <p:cNvPr id="3" name="Image 0" descr="preencoded.png">    </p:cNvPr>
          <p:cNvPicPr>
            <a:picLocks noChangeAspect="1"/>
          </p:cNvPicPr>
          <p:nvPr/>
        </p:nvPicPr>
        <p:blipFill>
          <a:blip r:embed="rId1"/>
          <a:stretch>
            <a:fillRect/>
          </a:stretch>
        </p:blipFill>
        <p:spPr>
          <a:xfrm>
            <a:off x="2743200" y="2834640"/>
            <a:ext cx="548640" cy="548640"/>
          </a:xfrm>
          <a:prstGeom prst="rect">
            <a:avLst/>
          </a:prstGeom>
        </p:spPr>
      </p:pic>
      <p:sp>
        <p:nvSpPr>
          <p:cNvPr id="4" name="Text 1"/>
          <p:cNvSpPr txBox="1"/>
          <p:nvPr/>
        </p:nvSpPr>
        <p:spPr>
          <a:xfrm>
            <a:off x="731520" y="3657600"/>
            <a:ext cx="457200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חנוך היום – תמונה חזקה, מבט למצלמה</a:t>
            </a:r>
            <a:endParaRPr lang="he-IL" sz="1200" dirty="0"/>
          </a:p>
        </p:txBody>
      </p:sp>
      <p:sp>
        <p:nvSpPr>
          <p:cNvPr id="5" name="Text 2"/>
          <p:cNvSpPr txBox="1"/>
          <p:nvPr/>
        </p:nvSpPr>
        <p:spPr>
          <a:xfrm>
            <a:off x="6035040" y="1371600"/>
            <a:ext cx="5669280" cy="1554480"/>
          </a:xfrm>
          <a:prstGeom prst="rect">
            <a:avLst/>
          </a:prstGeom>
          <a:noFill/>
          <a:ln/>
        </p:spPr>
        <p:txBody>
          <a:bodyPr wrap="square" lIns="0" tIns="0" rIns="0" bIns="0" rtlCol="0" anchor="t"/>
          <a:lstStyle/>
          <a:p>
            <a:pPr rtl="1" algn="r" indent="0" marL="0">
              <a:buNone/>
            </a:pPr>
            <a:r>
              <a:rPr lang="he-IL" altLang="en-US" sz="11000" b="1" dirty="0">
                <a:solidFill>
                  <a:srgbClr val="D9B78C"/>
                </a:solidFill>
                <a:latin typeface="Arial" pitchFamily="34" charset="0"/>
                <a:ea typeface="Arial" pitchFamily="34" charset="-122"/>
                <a:cs typeface="Arial" pitchFamily="34" charset="-120"/>
              </a:rPr>
              <a:t>7.10</a:t>
            </a:r>
            <a:endParaRPr lang="he-IL" sz="11000" dirty="0"/>
          </a:p>
        </p:txBody>
      </p:sp>
      <p:sp>
        <p:nvSpPr>
          <p:cNvPr id="6" name="Text 3"/>
          <p:cNvSpPr txBox="1"/>
          <p:nvPr/>
        </p:nvSpPr>
        <p:spPr>
          <a:xfrm>
            <a:off x="6035040" y="3017520"/>
            <a:ext cx="5669280" cy="914400"/>
          </a:xfrm>
          <a:prstGeom prst="rect">
            <a:avLst/>
          </a:prstGeom>
          <a:noFill/>
          <a:ln/>
        </p:spPr>
        <p:txBody>
          <a:bodyPr wrap="square" lIns="0" tIns="0" rIns="0" bIns="0" rtlCol="0" anchor="t"/>
          <a:lstStyle/>
          <a:p>
            <a:pPr rtl="1" algn="r" indent="0" marL="0">
              <a:buNone/>
            </a:pPr>
            <a:r>
              <a:rPr lang="he-IL" altLang="en-US" sz="4800" b="1" dirty="0">
                <a:solidFill>
                  <a:srgbClr val="FFFFFF"/>
                </a:solidFill>
                <a:latin typeface="Arial" pitchFamily="34" charset="0"/>
                <a:ea typeface="Arial" pitchFamily="34" charset="-122"/>
                <a:cs typeface="Arial" pitchFamily="34" charset="-120"/>
              </a:rPr>
              <a:t>הסיפור שלי</a:t>
            </a:r>
            <a:endParaRPr lang="he-IL" sz="4800" dirty="0"/>
          </a:p>
        </p:txBody>
      </p:sp>
      <p:sp>
        <p:nvSpPr>
          <p:cNvPr id="7" name="Text 4"/>
          <p:cNvSpPr txBox="1"/>
          <p:nvPr/>
        </p:nvSpPr>
        <p:spPr>
          <a:xfrm>
            <a:off x="6035040" y="4023360"/>
            <a:ext cx="5669280" cy="548640"/>
          </a:xfrm>
          <a:prstGeom prst="rect">
            <a:avLst/>
          </a:prstGeom>
          <a:noFill/>
          <a:ln/>
        </p:spPr>
        <p:txBody>
          <a:bodyPr wrap="square" lIns="0" tIns="0" rIns="0" bIns="0" rtlCol="0" anchor="t"/>
          <a:lstStyle/>
          <a:p>
            <a:pPr rtl="1" algn="r" indent="0" marL="0">
              <a:buNone/>
            </a:pPr>
            <a:r>
              <a:rPr lang="he-IL" altLang="en-US" sz="1800" dirty="0">
                <a:solidFill>
                  <a:srgbClr val="A7ADB8"/>
                </a:solidFill>
                <a:latin typeface="Arial" pitchFamily="34" charset="0"/>
                <a:ea typeface="Arial" pitchFamily="34" charset="-122"/>
                <a:cs typeface="Arial" pitchFamily="34" charset="-120"/>
              </a:rPr>
              <a:t>חנוך  |  לוחם סיירת נח״ל, פצוע 7 באוקטובר</a:t>
            </a:r>
            <a:endParaRPr lang="he-IL" sz="1800" dirty="0"/>
          </a:p>
        </p:txBody>
      </p:sp>
      <p:sp>
        <p:nvSpPr>
          <p:cNvPr id="8" name="Text 5"/>
          <p:cNvSpPr txBox="1"/>
          <p:nvPr/>
        </p:nvSpPr>
        <p:spPr>
          <a:xfrm>
            <a:off x="6035040" y="4572000"/>
            <a:ext cx="5669280" cy="457200"/>
          </a:xfrm>
          <a:prstGeom prst="rect">
            <a:avLst/>
          </a:prstGeom>
          <a:noFill/>
          <a:ln/>
        </p:spPr>
        <p:txBody>
          <a:bodyPr wrap="square" lIns="0" tIns="0" rIns="0" bIns="0" rtlCol="0" anchor="t"/>
          <a:lstStyle/>
          <a:p>
            <a:pPr rtl="1" algn="r" indent="0" marL="0">
              <a:buNone/>
            </a:pPr>
            <a:r>
              <a:rPr lang="he-IL" altLang="en-US" sz="1600" dirty="0">
                <a:solidFill>
                  <a:srgbClr val="A7ADB8"/>
                </a:solidFill>
                <a:latin typeface="Arial" pitchFamily="34" charset="0"/>
                <a:ea typeface="Arial" pitchFamily="34" charset="-122"/>
                <a:cs typeface="Arial" pitchFamily="34" charset="-120"/>
              </a:rPr>
              <a:t>הרצאה על בחירה, פציעה, ומה עושים אחרי</a:t>
            </a:r>
            <a:endParaRPr lang="he-IL"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54335" y="1005840"/>
            <a:ext cx="822960" cy="822960"/>
          </a:xfrm>
          <a:prstGeom prst="rect">
            <a:avLst/>
          </a:prstGeom>
        </p:spPr>
      </p:pic>
      <p:sp>
        <p:nvSpPr>
          <p:cNvPr id="3" name="Text 0"/>
          <p:cNvSpPr txBox="1"/>
          <p:nvPr/>
        </p:nvSpPr>
        <p:spPr>
          <a:xfrm>
            <a:off x="914400" y="1920240"/>
            <a:ext cx="9539935" cy="2377440"/>
          </a:xfrm>
          <a:prstGeom prst="rect">
            <a:avLst/>
          </a:prstGeom>
          <a:noFill/>
          <a:ln/>
        </p:spPr>
        <p:txBody>
          <a:bodyPr wrap="square" lIns="0" tIns="0" rIns="0" bIns="0" rtlCol="0" anchor="t"/>
          <a:lstStyle/>
          <a:p>
            <a:pPr rtl="1" algn="r" indent="0" marL="0">
              <a:buNone/>
            </a:pPr>
            <a:r>
              <a:rPr lang="he-IL" altLang="en-US" sz="4000" b="1" dirty="0">
                <a:solidFill>
                  <a:srgbClr val="FFFFFF"/>
                </a:solidFill>
                <a:latin typeface="Arial" pitchFamily="34" charset="0"/>
                <a:ea typeface="Arial" pitchFamily="34" charset="-122"/>
                <a:cs typeface="Arial" pitchFamily="34" charset="-120"/>
              </a:rPr>
              <a:t>ב־7 באוקטובר קיבלתי החלטה</a:t>
            </a:r>
            <a:endParaRPr lang="he-IL" sz="4000" dirty="0"/>
          </a:p>
          <a:p>
            <a:pPr rtl="1" algn="r" indent="0" marL="0">
              <a:buNone/>
            </a:pPr>
            <a:r>
              <a:rPr lang="he-IL" altLang="en-US" sz="4000" b="1" dirty="0">
                <a:solidFill>
                  <a:srgbClr val="FFFFFF"/>
                </a:solidFill>
                <a:latin typeface="Arial" pitchFamily="34" charset="0"/>
                <a:ea typeface="Arial" pitchFamily="34" charset="-122"/>
                <a:cs typeface="Arial" pitchFamily="34" charset="-120"/>
              </a:rPr>
              <a:t>שאולי הייתה אחת ההחלטות</a:t>
            </a:r>
            <a:endParaRPr lang="he-IL" sz="4000" dirty="0"/>
          </a:p>
          <a:p>
            <a:pPr rtl="1" algn="r" indent="0" marL="0">
              <a:buNone/>
            </a:pPr>
            <a:r>
              <a:rPr lang="he-IL" altLang="en-US" sz="4000" b="1" dirty="0">
                <a:solidFill>
                  <a:srgbClr val="FFFFFF"/>
                </a:solidFill>
                <a:latin typeface="Arial" pitchFamily="34" charset="0"/>
                <a:ea typeface="Arial" pitchFamily="34" charset="-122"/>
                <a:cs typeface="Arial" pitchFamily="34" charset="-120"/>
              </a:rPr>
              <a:t>הכי חשובות בחיים שלי.</a:t>
            </a:r>
            <a:endParaRPr lang="he-IL" sz="4000" dirty="0"/>
          </a:p>
        </p:txBody>
      </p:sp>
      <p:sp>
        <p:nvSpPr>
          <p:cNvPr id="4" name="Text 1"/>
          <p:cNvSpPr txBox="1"/>
          <p:nvPr/>
        </p:nvSpPr>
        <p:spPr>
          <a:xfrm>
            <a:off x="914400" y="4480560"/>
            <a:ext cx="9539935" cy="731520"/>
          </a:xfrm>
          <a:prstGeom prst="rect">
            <a:avLst/>
          </a:prstGeom>
          <a:noFill/>
          <a:ln/>
        </p:spPr>
        <p:txBody>
          <a:bodyPr wrap="square" lIns="0" tIns="0" rIns="0" bIns="0" rtlCol="0" anchor="t"/>
          <a:lstStyle/>
          <a:p>
            <a:pPr rtl="1" algn="r" indent="0" marL="0">
              <a:buNone/>
            </a:pPr>
            <a:r>
              <a:rPr lang="he-IL" altLang="en-US" sz="2400" dirty="0">
                <a:solidFill>
                  <a:srgbClr val="D9B78C"/>
                </a:solidFill>
                <a:latin typeface="Arial" pitchFamily="34" charset="0"/>
                <a:ea typeface="Arial" pitchFamily="34" charset="-122"/>
                <a:cs typeface="Arial" pitchFamily="34" charset="-120"/>
              </a:rPr>
              <a:t>לא ידעתי אז שהיא תשנה את כל החיים שלי.</a:t>
            </a:r>
            <a:endParaRPr lang="he-IL" sz="2400" dirty="0"/>
          </a:p>
        </p:txBody>
      </p:sp>
      <p:sp>
        <p:nvSpPr>
          <p:cNvPr id="5" name="Text 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01</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מי הייתי לפני הכול</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רק עכשיו חוזרים אחורה. לא כל הילדות – רק הרגעים שמסבירים.</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חנוך, בן 24, מיישובי גדרות</a:t>
            </a:r>
            <a:endParaRPr lang="he-IL" sz="3600" dirty="0"/>
          </a:p>
        </p:txBody>
      </p:sp>
      <p:sp>
        <p:nvSpPr>
          <p:cNvPr id="3" name="Shape 1"/>
          <p:cNvSpPr/>
          <p:nvPr/>
        </p:nvSpPr>
        <p:spPr>
          <a:xfrm>
            <a:off x="822960" y="1737360"/>
            <a:ext cx="4206240" cy="4206240"/>
          </a:xfrm>
          <a:prstGeom prst="roundRect">
            <a:avLst>
              <a:gd name="adj" fmla="val 3261"/>
            </a:avLst>
          </a:prstGeom>
          <a:solidFill>
            <a:srgbClr val="ECE7DF"/>
          </a:solidFill>
          <a:ln w="15875">
            <a:solidFill>
              <a:srgbClr val="C9C2B6"/>
            </a:solidFill>
            <a:prstDash val="dash"/>
          </a:ln>
        </p:spPr>
      </p:sp>
      <p:pic>
        <p:nvPicPr>
          <p:cNvPr id="4" name="Image 0" descr="preencoded.png">    </p:cNvPr>
          <p:cNvPicPr>
            <a:picLocks noChangeAspect="1"/>
          </p:cNvPicPr>
          <p:nvPr/>
        </p:nvPicPr>
        <p:blipFill>
          <a:blip r:embed="rId1"/>
          <a:stretch>
            <a:fillRect/>
          </a:stretch>
        </p:blipFill>
        <p:spPr>
          <a:xfrm>
            <a:off x="2651760" y="3246120"/>
            <a:ext cx="548640" cy="548640"/>
          </a:xfrm>
          <a:prstGeom prst="rect">
            <a:avLst/>
          </a:prstGeom>
        </p:spPr>
      </p:pic>
      <p:sp>
        <p:nvSpPr>
          <p:cNvPr id="5" name="Text 2"/>
          <p:cNvSpPr txBox="1"/>
          <p:nvPr/>
        </p:nvSpPr>
        <p:spPr>
          <a:xfrm>
            <a:off x="1097280" y="4069080"/>
            <a:ext cx="3657600" cy="64008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תמונה: ילדות במושב – תמונה משפחתית או מהשדות</a:t>
            </a:r>
            <a:endParaRPr lang="he-IL" sz="1200" dirty="0"/>
          </a:p>
        </p:txBody>
      </p:sp>
      <p:sp>
        <p:nvSpPr>
          <p:cNvPr id="6" name="Shape 3"/>
          <p:cNvSpPr/>
          <p:nvPr/>
        </p:nvSpPr>
        <p:spPr>
          <a:xfrm>
            <a:off x="10637215" y="1828800"/>
            <a:ext cx="731520" cy="731520"/>
          </a:xfrm>
          <a:prstGeom prst="ellipse">
            <a:avLst/>
          </a:prstGeom>
          <a:solidFill>
            <a:srgbClr val="D9B78C"/>
          </a:solidFill>
          <a:ln w="12700">
            <a:solidFill>
              <a:srgbClr val="D9B78C"/>
            </a:solidFill>
            <a:prstDash val="solid"/>
          </a:ln>
        </p:spPr>
      </p:sp>
      <p:pic>
        <p:nvPicPr>
          <p:cNvPr id="7" name="Image 1" descr="preencoded.png">    </p:cNvPr>
          <p:cNvPicPr>
            <a:picLocks noChangeAspect="1"/>
          </p:cNvPicPr>
          <p:nvPr/>
        </p:nvPicPr>
        <p:blipFill>
          <a:blip r:embed="rId2"/>
          <a:stretch>
            <a:fillRect/>
          </a:stretch>
        </p:blipFill>
        <p:spPr>
          <a:xfrm>
            <a:off x="10820095" y="2011680"/>
            <a:ext cx="365760" cy="365760"/>
          </a:xfrm>
          <a:prstGeom prst="rect">
            <a:avLst/>
          </a:prstGeom>
        </p:spPr>
      </p:pic>
      <p:sp>
        <p:nvSpPr>
          <p:cNvPr id="8" name="Text 4"/>
          <p:cNvSpPr txBox="1"/>
          <p:nvPr/>
        </p:nvSpPr>
        <p:spPr>
          <a:xfrm>
            <a:off x="5394960" y="1828800"/>
            <a:ext cx="4967935" cy="41148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ילדות מושבניקית</a:t>
            </a:r>
            <a:endParaRPr lang="he-IL" sz="2200" dirty="0"/>
          </a:p>
        </p:txBody>
      </p:sp>
      <p:sp>
        <p:nvSpPr>
          <p:cNvPr id="9" name="Text 5"/>
          <p:cNvSpPr txBox="1"/>
          <p:nvPr/>
        </p:nvSpPr>
        <p:spPr>
          <a:xfrm>
            <a:off x="5394960" y="2286000"/>
            <a:ext cx="4967935" cy="73152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גדלתי בגדרות – שדות, טרקטורים, חופש, ומעט מאוד גבולות.</a:t>
            </a:r>
            <a:endParaRPr lang="he-IL" sz="1500" dirty="0"/>
          </a:p>
        </p:txBody>
      </p:sp>
      <p:sp>
        <p:nvSpPr>
          <p:cNvPr id="10" name="Shape 6"/>
          <p:cNvSpPr/>
          <p:nvPr/>
        </p:nvSpPr>
        <p:spPr>
          <a:xfrm>
            <a:off x="10637215" y="3154680"/>
            <a:ext cx="731520" cy="731520"/>
          </a:xfrm>
          <a:prstGeom prst="ellipse">
            <a:avLst/>
          </a:prstGeom>
          <a:solidFill>
            <a:srgbClr val="D9B78C"/>
          </a:solidFill>
          <a:ln w="12700">
            <a:solidFill>
              <a:srgbClr val="D9B78C"/>
            </a:solidFill>
            <a:prstDash val="solid"/>
          </a:ln>
        </p:spPr>
      </p:sp>
      <p:pic>
        <p:nvPicPr>
          <p:cNvPr id="11" name="Image 2" descr="preencoded.png">    </p:cNvPr>
          <p:cNvPicPr>
            <a:picLocks noChangeAspect="1"/>
          </p:cNvPicPr>
          <p:nvPr/>
        </p:nvPicPr>
        <p:blipFill>
          <a:blip r:embed="rId3"/>
          <a:stretch>
            <a:fillRect/>
          </a:stretch>
        </p:blipFill>
        <p:spPr>
          <a:xfrm>
            <a:off x="10820095" y="3337560"/>
            <a:ext cx="365760" cy="365760"/>
          </a:xfrm>
          <a:prstGeom prst="rect">
            <a:avLst/>
          </a:prstGeom>
        </p:spPr>
      </p:pic>
      <p:sp>
        <p:nvSpPr>
          <p:cNvPr id="12" name="Text 7"/>
          <p:cNvSpPr txBox="1"/>
          <p:nvPr/>
        </p:nvSpPr>
        <p:spPr>
          <a:xfrm>
            <a:off x="5394960" y="3154680"/>
            <a:ext cx="4967935" cy="41148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אח בכור לארבעה</a:t>
            </a:r>
            <a:endParaRPr lang="he-IL" sz="2200" dirty="0"/>
          </a:p>
        </p:txBody>
      </p:sp>
      <p:sp>
        <p:nvSpPr>
          <p:cNvPr id="13" name="Text 8"/>
          <p:cNvSpPr txBox="1"/>
          <p:nvPr/>
        </p:nvSpPr>
        <p:spPr>
          <a:xfrm>
            <a:off x="5394960" y="3611880"/>
            <a:ext cx="4967935" cy="73152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מגיל צעיר הייתי זה שאמורים להסתכל עליו.</a:t>
            </a:r>
            <a:endParaRPr lang="he-IL" sz="1500" dirty="0"/>
          </a:p>
        </p:txBody>
      </p:sp>
      <p:sp>
        <p:nvSpPr>
          <p:cNvPr id="14" name="Shape 9"/>
          <p:cNvSpPr/>
          <p:nvPr/>
        </p:nvSpPr>
        <p:spPr>
          <a:xfrm>
            <a:off x="10637215" y="4480560"/>
            <a:ext cx="731520" cy="731520"/>
          </a:xfrm>
          <a:prstGeom prst="ellipse">
            <a:avLst/>
          </a:prstGeom>
          <a:solidFill>
            <a:srgbClr val="D9B78C"/>
          </a:solidFill>
          <a:ln w="12700">
            <a:solidFill>
              <a:srgbClr val="D9B78C"/>
            </a:solidFill>
            <a:prstDash val="solid"/>
          </a:ln>
        </p:spPr>
      </p:sp>
      <p:pic>
        <p:nvPicPr>
          <p:cNvPr id="15" name="Image 3" descr="preencoded.png">    </p:cNvPr>
          <p:cNvPicPr>
            <a:picLocks noChangeAspect="1"/>
          </p:cNvPicPr>
          <p:nvPr/>
        </p:nvPicPr>
        <p:blipFill>
          <a:blip r:embed="rId4"/>
          <a:stretch>
            <a:fillRect/>
          </a:stretch>
        </p:blipFill>
        <p:spPr>
          <a:xfrm>
            <a:off x="10820095" y="4663440"/>
            <a:ext cx="365760" cy="365760"/>
          </a:xfrm>
          <a:prstGeom prst="rect">
            <a:avLst/>
          </a:prstGeom>
        </p:spPr>
      </p:pic>
      <p:sp>
        <p:nvSpPr>
          <p:cNvPr id="16" name="Text 10"/>
          <p:cNvSpPr txBox="1"/>
          <p:nvPr/>
        </p:nvSpPr>
        <p:spPr>
          <a:xfrm>
            <a:off x="5394960" y="4480560"/>
            <a:ext cx="4967935" cy="41148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הרבה סימני שאלה</a:t>
            </a:r>
            <a:endParaRPr lang="he-IL" sz="2200" dirty="0"/>
          </a:p>
        </p:txBody>
      </p:sp>
      <p:sp>
        <p:nvSpPr>
          <p:cNvPr id="17" name="Text 11"/>
          <p:cNvSpPr txBox="1"/>
          <p:nvPr/>
        </p:nvSpPr>
        <p:spPr>
          <a:xfrm>
            <a:off x="5394960" y="4937760"/>
            <a:ext cx="4967935" cy="73152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לא ילד שידעו לאן הוא הולך – לא ההורים, לא המורים, ולא אני.</a:t>
            </a:r>
            <a:endParaRPr lang="he-IL" sz="1500" dirty="0"/>
          </a:p>
        </p:txBody>
      </p:sp>
      <p:sp>
        <p:nvSpPr>
          <p:cNvPr id="18" name="Text 1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1463040"/>
          </a:xfrm>
          <a:prstGeom prst="rect">
            <a:avLst/>
          </a:prstGeom>
          <a:noFill/>
          <a:ln/>
        </p:spPr>
        <p:txBody>
          <a:bodyPr wrap="square" lIns="0" tIns="0" rIns="0" bIns="0" rtlCol="0" anchor="t"/>
          <a:lstStyle/>
          <a:p>
            <a:pPr rtl="1" algn="ctr" indent="0" marL="0">
              <a:buNone/>
            </a:pPr>
            <a:r>
              <a:rPr lang="he-IL" altLang="en-US" sz="8400" b="1" dirty="0">
                <a:solidFill>
                  <a:srgbClr val="D9B78C"/>
                </a:solidFill>
                <a:latin typeface="Arial" pitchFamily="34" charset="0"/>
                <a:ea typeface="Arial" pitchFamily="34" charset="-122"/>
                <a:cs typeface="Arial" pitchFamily="34" charset="-120"/>
              </a:rPr>
              <a:t>״ילד בעייתי״</a:t>
            </a:r>
            <a:endParaRPr lang="he-IL" sz="8400" dirty="0"/>
          </a:p>
        </p:txBody>
      </p:sp>
      <p:sp>
        <p:nvSpPr>
          <p:cNvPr id="3" name="Text 1"/>
          <p:cNvSpPr txBox="1"/>
          <p:nvPr/>
        </p:nvSpPr>
        <p:spPr>
          <a:xfrm>
            <a:off x="1371600" y="2834640"/>
            <a:ext cx="9448495" cy="640080"/>
          </a:xfrm>
          <a:prstGeom prst="rect">
            <a:avLst/>
          </a:prstGeom>
          <a:noFill/>
          <a:ln/>
        </p:spPr>
        <p:txBody>
          <a:bodyPr wrap="square" lIns="0" tIns="0" rIns="0" bIns="0" rtlCol="0" anchor="t"/>
          <a:lstStyle/>
          <a:p>
            <a:pPr rtl="1" algn="ctr" indent="0" marL="0">
              <a:buNone/>
            </a:pPr>
            <a:r>
              <a:rPr lang="he-IL" altLang="en-US" sz="2600" dirty="0">
                <a:solidFill>
                  <a:srgbClr val="FFFFFF"/>
                </a:solidFill>
                <a:latin typeface="Arial" pitchFamily="34" charset="0"/>
                <a:ea typeface="Arial" pitchFamily="34" charset="-122"/>
                <a:cs typeface="Arial" pitchFamily="34" charset="-120"/>
              </a:rPr>
              <a:t>ככה הגדירו אותי כבר מהגן. ומאז – הסתבכתי הרבה.</a:t>
            </a:r>
            <a:endParaRPr lang="he-IL" sz="2600" dirty="0"/>
          </a:p>
        </p:txBody>
      </p:sp>
      <p:sp>
        <p:nvSpPr>
          <p:cNvPr id="4" name="Text 2"/>
          <p:cNvSpPr txBox="1"/>
          <p:nvPr/>
        </p:nvSpPr>
        <p:spPr>
          <a:xfrm>
            <a:off x="1371600" y="3566160"/>
            <a:ext cx="9448495" cy="548640"/>
          </a:xfrm>
          <a:prstGeom prst="rect">
            <a:avLst/>
          </a:prstGeom>
          <a:noFill/>
          <a:ln/>
        </p:spPr>
        <p:txBody>
          <a:bodyPr wrap="square" lIns="0" tIns="0" rIns="0" bIns="0" rtlCol="0" anchor="t"/>
          <a:lstStyle/>
          <a:p>
            <a:pPr rtl="1" algn="ctr" indent="0" marL="0">
              <a:buNone/>
            </a:pPr>
            <a:r>
              <a:rPr lang="he-IL" altLang="en-US" sz="2000" dirty="0">
                <a:solidFill>
                  <a:srgbClr val="A7ADB8"/>
                </a:solidFill>
                <a:latin typeface="Arial" pitchFamily="34" charset="0"/>
                <a:ea typeface="Arial" pitchFamily="34" charset="-122"/>
                <a:cs typeface="Arial" pitchFamily="34" charset="-120"/>
              </a:rPr>
              <a:t>כשאומרים לך משהו מספיק פעמים, אתה מתחיל להאמין לזה.</a:t>
            </a:r>
            <a:endParaRPr lang="he-IL" sz="2000" dirty="0"/>
          </a:p>
        </p:txBody>
      </p:sp>
      <p:sp>
        <p:nvSpPr>
          <p:cNvPr id="5" name="Shape 3"/>
          <p:cNvSpPr/>
          <p:nvPr/>
        </p:nvSpPr>
        <p:spPr>
          <a:xfrm>
            <a:off x="3840480" y="4389120"/>
            <a:ext cx="4480560" cy="2011680"/>
          </a:xfrm>
          <a:prstGeom prst="roundRect">
            <a:avLst>
              <a:gd name="adj" fmla="val 6818"/>
            </a:avLst>
          </a:prstGeom>
          <a:solidFill>
            <a:srgbClr val="171C24"/>
          </a:solidFill>
          <a:ln w="15875">
            <a:solidFill>
              <a:srgbClr val="3A4150"/>
            </a:solidFill>
            <a:prstDash val="dash"/>
          </a:ln>
        </p:spPr>
      </p:sp>
      <p:pic>
        <p:nvPicPr>
          <p:cNvPr id="6" name="Image 0" descr="preencoded.png">    </p:cNvPr>
          <p:cNvPicPr>
            <a:picLocks noChangeAspect="1"/>
          </p:cNvPicPr>
          <p:nvPr/>
        </p:nvPicPr>
        <p:blipFill>
          <a:blip r:embed="rId1"/>
          <a:stretch>
            <a:fillRect/>
          </a:stretch>
        </p:blipFill>
        <p:spPr>
          <a:xfrm>
            <a:off x="5806440" y="4800600"/>
            <a:ext cx="548640" cy="548640"/>
          </a:xfrm>
          <a:prstGeom prst="rect">
            <a:avLst/>
          </a:prstGeom>
        </p:spPr>
      </p:pic>
      <p:sp>
        <p:nvSpPr>
          <p:cNvPr id="7" name="Text 4"/>
          <p:cNvSpPr txBox="1"/>
          <p:nvPr/>
        </p:nvSpPr>
        <p:spPr>
          <a:xfrm>
            <a:off x="4114800" y="5623560"/>
            <a:ext cx="393192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חנוך ילד (גן / בית ספר יסודי)</a:t>
            </a:r>
            <a:endParaRPr lang="he-IL" sz="1200" dirty="0"/>
          </a:p>
        </p:txBody>
      </p:sp>
      <p:sp>
        <p:nvSpPr>
          <p:cNvPr id="8"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כיתה י׳: הרגע שבו הכול התהפך</a:t>
            </a:r>
            <a:endParaRPr lang="he-IL" sz="3600" dirty="0"/>
          </a:p>
        </p:txBody>
      </p:sp>
      <p:sp>
        <p:nvSpPr>
          <p:cNvPr id="3" name="Shape 1"/>
          <p:cNvSpPr/>
          <p:nvPr/>
        </p:nvSpPr>
        <p:spPr>
          <a:xfrm>
            <a:off x="822960" y="1645920"/>
            <a:ext cx="5120640" cy="4480560"/>
          </a:xfrm>
          <a:prstGeom prst="roundRect">
            <a:avLst>
              <a:gd name="adj" fmla="val 3061"/>
            </a:avLst>
          </a:prstGeom>
          <a:solidFill>
            <a:srgbClr val="0E1116"/>
          </a:solidFill>
          <a:ln w="12700">
            <a:solidFill>
              <a:srgbClr val="0E1116"/>
            </a:solidFill>
            <a:prstDash val="solid"/>
          </a:ln>
        </p:spPr>
      </p:sp>
      <p:pic>
        <p:nvPicPr>
          <p:cNvPr id="4" name="Image 0" descr="preencoded.png">    </p:cNvPr>
          <p:cNvPicPr>
            <a:picLocks noChangeAspect="1"/>
          </p:cNvPicPr>
          <p:nvPr/>
        </p:nvPicPr>
        <p:blipFill>
          <a:blip r:embed="rId1"/>
          <a:stretch>
            <a:fillRect/>
          </a:stretch>
        </p:blipFill>
        <p:spPr>
          <a:xfrm>
            <a:off x="5120640" y="1920240"/>
            <a:ext cx="548640" cy="548640"/>
          </a:xfrm>
          <a:prstGeom prst="rect">
            <a:avLst/>
          </a:prstGeom>
        </p:spPr>
      </p:pic>
      <p:sp>
        <p:nvSpPr>
          <p:cNvPr id="5" name="Text 2"/>
          <p:cNvSpPr txBox="1"/>
          <p:nvPr/>
        </p:nvSpPr>
        <p:spPr>
          <a:xfrm>
            <a:off x="1188720" y="2651760"/>
            <a:ext cx="4480560" cy="1097280"/>
          </a:xfrm>
          <a:prstGeom prst="rect">
            <a:avLst/>
          </a:prstGeom>
          <a:noFill/>
          <a:ln/>
        </p:spPr>
        <p:txBody>
          <a:bodyPr wrap="square" lIns="0" tIns="0" rIns="0" bIns="0" rtlCol="0" anchor="t"/>
          <a:lstStyle/>
          <a:p>
            <a:pPr rtl="1" algn="r" indent="0" marL="0">
              <a:buNone/>
            </a:pPr>
            <a:r>
              <a:rPr lang="he-IL" altLang="en-US" sz="3000" b="1" dirty="0">
                <a:solidFill>
                  <a:srgbClr val="FFFFFF"/>
                </a:solidFill>
                <a:latin typeface="Arial" pitchFamily="34" charset="0"/>
                <a:ea typeface="Arial" pitchFamily="34" charset="-122"/>
                <a:cs typeface="Arial" pitchFamily="34" charset="-120"/>
              </a:rPr>
              <a:t>״לא היה לי שום קשר לזה.״</a:t>
            </a:r>
            <a:endParaRPr lang="he-IL" sz="3000" dirty="0"/>
          </a:p>
        </p:txBody>
      </p:sp>
      <p:sp>
        <p:nvSpPr>
          <p:cNvPr id="6" name="Text 3"/>
          <p:cNvSpPr txBox="1"/>
          <p:nvPr/>
        </p:nvSpPr>
        <p:spPr>
          <a:xfrm>
            <a:off x="1188720" y="3840480"/>
            <a:ext cx="4480560" cy="2011680"/>
          </a:xfrm>
          <a:prstGeom prst="rect">
            <a:avLst/>
          </a:prstGeom>
          <a:noFill/>
          <a:ln/>
        </p:spPr>
        <p:txBody>
          <a:bodyPr wrap="square" lIns="0" tIns="0" rIns="0" bIns="0" rtlCol="0" anchor="t"/>
          <a:lstStyle/>
          <a:p>
            <a:pPr rtl="1" algn="r" indent="0" marL="0">
              <a:spcAft>
                <a:spcPts val="800"/>
              </a:spcAft>
              <a:buNone/>
            </a:pPr>
            <a:r>
              <a:rPr lang="he-IL" altLang="en-US" sz="1600" dirty="0">
                <a:solidFill>
                  <a:srgbClr val="A7ADB8"/>
                </a:solidFill>
                <a:latin typeface="Arial" pitchFamily="34" charset="0"/>
                <a:ea typeface="Arial" pitchFamily="34" charset="-122"/>
                <a:cs typeface="Arial" pitchFamily="34" charset="-120"/>
              </a:rPr>
              <a:t>האשימו אותי בבית הספר בסחר בסמים. משהו שלא עשיתי.</a:t>
            </a:r>
            <a:endParaRPr lang="he-IL" sz="1600" dirty="0"/>
          </a:p>
          <a:p>
            <a:pPr rtl="1" algn="r" indent="0" marL="0">
              <a:spcAft>
                <a:spcPts val="800"/>
              </a:spcAft>
              <a:buNone/>
            </a:pPr>
            <a:r>
              <a:rPr lang="he-IL" altLang="en-US" sz="1600" dirty="0">
                <a:solidFill>
                  <a:srgbClr val="A7ADB8"/>
                </a:solidFill>
                <a:latin typeface="Arial" pitchFamily="34" charset="0"/>
                <a:ea typeface="Arial" pitchFamily="34" charset="-122"/>
                <a:cs typeface="Arial" pitchFamily="34" charset="-120"/>
              </a:rPr>
              <a:t>והבנתי: אם אני לא אכתוב את הסיפור שלי – מישהו אחר יכתוב אותו בשבילי.</a:t>
            </a:r>
            <a:endParaRPr lang="he-IL" sz="1600" dirty="0"/>
          </a:p>
        </p:txBody>
      </p:sp>
      <p:sp>
        <p:nvSpPr>
          <p:cNvPr id="7" name="Shape 4"/>
          <p:cNvSpPr/>
          <p:nvPr/>
        </p:nvSpPr>
        <p:spPr>
          <a:xfrm>
            <a:off x="10682935" y="1737360"/>
            <a:ext cx="685800" cy="685800"/>
          </a:xfrm>
          <a:prstGeom prst="ellipse">
            <a:avLst/>
          </a:prstGeom>
          <a:solidFill>
            <a:srgbClr val="D9B78C"/>
          </a:solidFill>
          <a:ln w="12700">
            <a:solidFill>
              <a:srgbClr val="D9B78C"/>
            </a:solidFill>
            <a:prstDash val="solid"/>
          </a:ln>
        </p:spPr>
      </p:sp>
      <p:sp>
        <p:nvSpPr>
          <p:cNvPr id="8" name="Text 5"/>
          <p:cNvSpPr txBox="1"/>
          <p:nvPr/>
        </p:nvSpPr>
        <p:spPr>
          <a:xfrm>
            <a:off x="10682935" y="1737360"/>
            <a:ext cx="685800" cy="685800"/>
          </a:xfrm>
          <a:prstGeom prst="rect">
            <a:avLst/>
          </a:prstGeom>
          <a:noFill/>
          <a:ln/>
        </p:spPr>
        <p:txBody>
          <a:bodyPr wrap="square" lIns="0" tIns="0" rIns="0" bIns="0" rtlCol="0" anchor="ctr"/>
          <a:lstStyle/>
          <a:p>
            <a:pPr rtl="1" algn="ctr" indent="0" marL="0">
              <a:buNone/>
            </a:pPr>
            <a:r>
              <a:rPr lang="he-IL" altLang="en-US" sz="2200" b="1" dirty="0">
                <a:solidFill>
                  <a:srgbClr val="0E1116"/>
                </a:solidFill>
                <a:latin typeface="Arial" pitchFamily="34" charset="0"/>
                <a:ea typeface="Arial" pitchFamily="34" charset="-122"/>
                <a:cs typeface="Arial" pitchFamily="34" charset="-120"/>
              </a:rPr>
              <a:t>1</a:t>
            </a:r>
            <a:endParaRPr lang="he-IL" sz="2200" dirty="0"/>
          </a:p>
        </p:txBody>
      </p:sp>
      <p:sp>
        <p:nvSpPr>
          <p:cNvPr id="9" name="Text 6"/>
          <p:cNvSpPr txBox="1"/>
          <p:nvPr/>
        </p:nvSpPr>
        <p:spPr>
          <a:xfrm>
            <a:off x="6309360" y="1737360"/>
            <a:ext cx="4144975" cy="45720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ההאשמה</a:t>
            </a:r>
            <a:endParaRPr lang="he-IL" sz="2200" dirty="0"/>
          </a:p>
        </p:txBody>
      </p:sp>
      <p:sp>
        <p:nvSpPr>
          <p:cNvPr id="10" name="Text 7"/>
          <p:cNvSpPr txBox="1"/>
          <p:nvPr/>
        </p:nvSpPr>
        <p:spPr>
          <a:xfrm>
            <a:off x="6309360" y="2240280"/>
            <a:ext cx="4144975" cy="8229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האשימו אותי בסחר בסמים – ולא היה לי שום קשר לזה.</a:t>
            </a:r>
            <a:endParaRPr lang="he-IL" sz="1500" dirty="0"/>
          </a:p>
        </p:txBody>
      </p:sp>
      <p:sp>
        <p:nvSpPr>
          <p:cNvPr id="11" name="Shape 8"/>
          <p:cNvSpPr/>
          <p:nvPr/>
        </p:nvSpPr>
        <p:spPr>
          <a:xfrm>
            <a:off x="10682935" y="3200400"/>
            <a:ext cx="685800" cy="685800"/>
          </a:xfrm>
          <a:prstGeom prst="ellipse">
            <a:avLst/>
          </a:prstGeom>
          <a:solidFill>
            <a:srgbClr val="D9B78C"/>
          </a:solidFill>
          <a:ln w="12700">
            <a:solidFill>
              <a:srgbClr val="D9B78C"/>
            </a:solidFill>
            <a:prstDash val="solid"/>
          </a:ln>
        </p:spPr>
      </p:sp>
      <p:sp>
        <p:nvSpPr>
          <p:cNvPr id="12" name="Text 9"/>
          <p:cNvSpPr txBox="1"/>
          <p:nvPr/>
        </p:nvSpPr>
        <p:spPr>
          <a:xfrm>
            <a:off x="10682935" y="3200400"/>
            <a:ext cx="685800" cy="685800"/>
          </a:xfrm>
          <a:prstGeom prst="rect">
            <a:avLst/>
          </a:prstGeom>
          <a:noFill/>
          <a:ln/>
        </p:spPr>
        <p:txBody>
          <a:bodyPr wrap="square" lIns="0" tIns="0" rIns="0" bIns="0" rtlCol="0" anchor="ctr"/>
          <a:lstStyle/>
          <a:p>
            <a:pPr rtl="1" algn="ctr" indent="0" marL="0">
              <a:buNone/>
            </a:pPr>
            <a:r>
              <a:rPr lang="he-IL" altLang="en-US" sz="2200" b="1" dirty="0">
                <a:solidFill>
                  <a:srgbClr val="0E1116"/>
                </a:solidFill>
                <a:latin typeface="Arial" pitchFamily="34" charset="0"/>
                <a:ea typeface="Arial" pitchFamily="34" charset="-122"/>
                <a:cs typeface="Arial" pitchFamily="34" charset="-120"/>
              </a:rPr>
              <a:t>2</a:t>
            </a:r>
            <a:endParaRPr lang="he-IL" sz="2200" dirty="0"/>
          </a:p>
        </p:txBody>
      </p:sp>
      <p:sp>
        <p:nvSpPr>
          <p:cNvPr id="13" name="Text 10"/>
          <p:cNvSpPr txBox="1"/>
          <p:nvPr/>
        </p:nvSpPr>
        <p:spPr>
          <a:xfrm>
            <a:off x="6309360" y="3200400"/>
            <a:ext cx="4144975" cy="45720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ההבנה</a:t>
            </a:r>
            <a:endParaRPr lang="he-IL" sz="2200" dirty="0"/>
          </a:p>
        </p:txBody>
      </p:sp>
      <p:sp>
        <p:nvSpPr>
          <p:cNvPr id="14" name="Text 11"/>
          <p:cNvSpPr txBox="1"/>
          <p:nvPr/>
        </p:nvSpPr>
        <p:spPr>
          <a:xfrm>
            <a:off x="6309360" y="3703320"/>
            <a:ext cx="4144975" cy="8229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בסוף האמינו לי. אבל נשאר חותם: יכולים לחשוד בי בדבר כל כך חמור. אני לא ״ילד רע״ – זו תדמית, לא אני.</a:t>
            </a:r>
            <a:endParaRPr lang="he-IL" sz="1500" dirty="0"/>
          </a:p>
        </p:txBody>
      </p:sp>
      <p:sp>
        <p:nvSpPr>
          <p:cNvPr id="15" name="Shape 12"/>
          <p:cNvSpPr/>
          <p:nvPr/>
        </p:nvSpPr>
        <p:spPr>
          <a:xfrm>
            <a:off x="10682935" y="4663440"/>
            <a:ext cx="685800" cy="685800"/>
          </a:xfrm>
          <a:prstGeom prst="ellipse">
            <a:avLst/>
          </a:prstGeom>
          <a:solidFill>
            <a:srgbClr val="D9B78C"/>
          </a:solidFill>
          <a:ln w="12700">
            <a:solidFill>
              <a:srgbClr val="D9B78C"/>
            </a:solidFill>
            <a:prstDash val="solid"/>
          </a:ln>
        </p:spPr>
      </p:sp>
      <p:sp>
        <p:nvSpPr>
          <p:cNvPr id="16" name="Text 13"/>
          <p:cNvSpPr txBox="1"/>
          <p:nvPr/>
        </p:nvSpPr>
        <p:spPr>
          <a:xfrm>
            <a:off x="10682935" y="4663440"/>
            <a:ext cx="685800" cy="685800"/>
          </a:xfrm>
          <a:prstGeom prst="rect">
            <a:avLst/>
          </a:prstGeom>
          <a:noFill/>
          <a:ln/>
        </p:spPr>
        <p:txBody>
          <a:bodyPr wrap="square" lIns="0" tIns="0" rIns="0" bIns="0" rtlCol="0" anchor="ctr"/>
          <a:lstStyle/>
          <a:p>
            <a:pPr rtl="1" algn="ctr" indent="0" marL="0">
              <a:buNone/>
            </a:pPr>
            <a:r>
              <a:rPr lang="he-IL" altLang="en-US" sz="2200" b="1" dirty="0">
                <a:solidFill>
                  <a:srgbClr val="0E1116"/>
                </a:solidFill>
                <a:latin typeface="Arial" pitchFamily="34" charset="0"/>
                <a:ea typeface="Arial" pitchFamily="34" charset="-122"/>
                <a:cs typeface="Arial" pitchFamily="34" charset="-120"/>
              </a:rPr>
              <a:t>3</a:t>
            </a:r>
            <a:endParaRPr lang="he-IL" sz="2200" dirty="0"/>
          </a:p>
        </p:txBody>
      </p:sp>
      <p:sp>
        <p:nvSpPr>
          <p:cNvPr id="17" name="Text 14"/>
          <p:cNvSpPr txBox="1"/>
          <p:nvPr/>
        </p:nvSpPr>
        <p:spPr>
          <a:xfrm>
            <a:off x="6309360" y="4663440"/>
            <a:ext cx="4144975" cy="457200"/>
          </a:xfrm>
          <a:prstGeom prst="rect">
            <a:avLst/>
          </a:prstGeom>
          <a:noFill/>
          <a:ln/>
        </p:spPr>
        <p:txBody>
          <a:bodyPr wrap="square" lIns="0" tIns="0" rIns="0" bIns="0" rtlCol="0" anchor="t"/>
          <a:lstStyle/>
          <a:p>
            <a:pPr rtl="1" algn="r" indent="0" marL="0">
              <a:buNone/>
            </a:pPr>
            <a:r>
              <a:rPr lang="he-IL" altLang="en-US" sz="2200" b="1" dirty="0">
                <a:solidFill>
                  <a:srgbClr val="1C1F26"/>
                </a:solidFill>
                <a:latin typeface="Arial" pitchFamily="34" charset="0"/>
                <a:ea typeface="Arial" pitchFamily="34" charset="-122"/>
                <a:cs typeface="Arial" pitchFamily="34" charset="-120"/>
              </a:rPr>
              <a:t>ההחלטה</a:t>
            </a:r>
            <a:endParaRPr lang="he-IL" sz="2200" dirty="0"/>
          </a:p>
        </p:txBody>
      </p:sp>
      <p:sp>
        <p:nvSpPr>
          <p:cNvPr id="18" name="Text 15"/>
          <p:cNvSpPr txBox="1"/>
          <p:nvPr/>
        </p:nvSpPr>
        <p:spPr>
          <a:xfrm>
            <a:off x="6309360" y="5166360"/>
            <a:ext cx="4144975" cy="8229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לכתוב את הסיפור שלי בעצמי, ולשנות את התדמית.</a:t>
            </a:r>
            <a:endParaRPr lang="he-IL" sz="1500" dirty="0"/>
          </a:p>
        </p:txBody>
      </p:sp>
      <p:sp>
        <p:nvSpPr>
          <p:cNvPr id="19" name="Text 16"/>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1005840"/>
          </a:xfrm>
          <a:prstGeom prst="rect">
            <a:avLst/>
          </a:prstGeom>
          <a:noFill/>
          <a:ln/>
        </p:spPr>
        <p:txBody>
          <a:bodyPr wrap="square" lIns="0" tIns="0" rIns="0" bIns="0" rtlCol="0" anchor="t"/>
          <a:lstStyle/>
          <a:p>
            <a:pPr rtl="1" algn="ctr" indent="0" marL="0">
              <a:buNone/>
            </a:pPr>
            <a:r>
              <a:rPr lang="he-IL" altLang="en-US" sz="4400" b="1" dirty="0">
                <a:solidFill>
                  <a:srgbClr val="A7ADB8"/>
                </a:solidFill>
                <a:latin typeface="Arial" pitchFamily="34" charset="0"/>
                <a:ea typeface="Arial" pitchFamily="34" charset="-122"/>
                <a:cs typeface="Arial" pitchFamily="34" charset="-120"/>
              </a:rPr>
              <a:t>העבר שלך מסביר אותך.</a:t>
            </a:r>
            <a:endParaRPr lang="he-IL" sz="4400" dirty="0"/>
          </a:p>
        </p:txBody>
      </p:sp>
      <p:sp>
        <p:nvSpPr>
          <p:cNvPr id="3" name="Text 1"/>
          <p:cNvSpPr txBox="1"/>
          <p:nvPr/>
        </p:nvSpPr>
        <p:spPr>
          <a:xfrm>
            <a:off x="914400" y="3108960"/>
            <a:ext cx="10362895" cy="1097280"/>
          </a:xfrm>
          <a:prstGeom prst="rect">
            <a:avLst/>
          </a:prstGeom>
          <a:noFill/>
          <a:ln/>
        </p:spPr>
        <p:txBody>
          <a:bodyPr wrap="square" lIns="0" tIns="0" rIns="0" bIns="0" rtlCol="0" anchor="t"/>
          <a:lstStyle/>
          <a:p>
            <a:pPr rtl="1" algn="ctr" indent="0" marL="0">
              <a:buNone/>
            </a:pPr>
            <a:r>
              <a:rPr lang="he-IL" altLang="en-US" sz="4800" b="1" dirty="0">
                <a:solidFill>
                  <a:srgbClr val="D9B78C"/>
                </a:solidFill>
                <a:latin typeface="Arial" pitchFamily="34" charset="0"/>
                <a:ea typeface="Arial" pitchFamily="34" charset="-122"/>
                <a:cs typeface="Arial" pitchFamily="34" charset="-120"/>
              </a:rPr>
              <a:t>אבל הוא לא חייב להגדיר אותך.</a:t>
            </a:r>
            <a:endParaRPr lang="he-IL" sz="4800" dirty="0"/>
          </a:p>
        </p:txBody>
      </p:sp>
      <p:sp>
        <p:nvSpPr>
          <p:cNvPr id="4" name="Text 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02</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הבחירה</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סיירת נח״ל. אבל זה לא סיפור צבאי – זו הפעם הראשונה שבחרתי מי אני רוצה להיות.</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8</a:t>
            </a:r>
            <a:endParaRPr lang="he-IL" sz="1000" dirty="0"/>
          </a:p>
        </p:txBody>
      </p:sp>
      <p:pic>
        <p:nvPicPr>
          <p:cNvPr id="6" name="Image 0" descr="nahal-sand.png">    </p:cNvPr>
          <p:cNvPicPr>
            <a:picLocks noChangeAspect="1"/>
          </p:cNvPicPr>
          <p:nvPr/>
        </p:nvPicPr>
        <p:blipFill>
          <a:blip r:embed="rId1"/>
          <a:stretch>
            <a:fillRect/>
          </a:stretch>
        </p:blipFill>
        <p:spPr>
          <a:xfrm>
            <a:off x="914400" y="1463040"/>
            <a:ext cx="3840480" cy="210716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853409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סיירת נח״ל – מה באמת קרה שם</a:t>
            </a:r>
            <a:endParaRPr lang="he-IL" sz="3600" dirty="0"/>
          </a:p>
        </p:txBody>
      </p:sp>
      <p:pic>
        <p:nvPicPr>
          <p:cNvPr id="3" name="Image 0" descr="nahal-dark.png">    </p:cNvPr>
          <p:cNvPicPr>
            <a:picLocks noChangeAspect="1"/>
          </p:cNvPicPr>
          <p:nvPr/>
        </p:nvPicPr>
        <p:blipFill>
          <a:blip r:embed="rId1"/>
          <a:stretch>
            <a:fillRect/>
          </a:stretch>
        </p:blipFill>
        <p:spPr>
          <a:xfrm>
            <a:off x="822960" y="320040"/>
            <a:ext cx="2468880" cy="1354607"/>
          </a:xfrm>
          <a:prstGeom prst="rect">
            <a:avLst/>
          </a:prstGeom>
        </p:spPr>
      </p:pic>
      <p:sp>
        <p:nvSpPr>
          <p:cNvPr id="4" name="Shape 1"/>
          <p:cNvSpPr/>
          <p:nvPr/>
        </p:nvSpPr>
        <p:spPr>
          <a:xfrm>
            <a:off x="822960" y="1645920"/>
            <a:ext cx="3108960" cy="4480560"/>
          </a:xfrm>
          <a:prstGeom prst="roundRect">
            <a:avLst>
              <a:gd name="adj" fmla="val 4412"/>
            </a:avLst>
          </a:prstGeom>
          <a:solidFill>
            <a:srgbClr val="ECE7DF"/>
          </a:solidFill>
          <a:ln w="15875">
            <a:solidFill>
              <a:srgbClr val="C9C2B6"/>
            </a:solidFill>
            <a:prstDash val="dash"/>
          </a:ln>
        </p:spPr>
      </p:sp>
      <p:pic>
        <p:nvPicPr>
          <p:cNvPr id="5" name="Image 1" descr="preencoded.png">    </p:cNvPr>
          <p:cNvPicPr>
            <a:picLocks noChangeAspect="1"/>
          </p:cNvPicPr>
          <p:nvPr/>
        </p:nvPicPr>
        <p:blipFill>
          <a:blip r:embed="rId2"/>
          <a:stretch>
            <a:fillRect/>
          </a:stretch>
        </p:blipFill>
        <p:spPr>
          <a:xfrm>
            <a:off x="2103120" y="3291840"/>
            <a:ext cx="548640" cy="548640"/>
          </a:xfrm>
          <a:prstGeom prst="rect">
            <a:avLst/>
          </a:prstGeom>
        </p:spPr>
      </p:pic>
      <p:sp>
        <p:nvSpPr>
          <p:cNvPr id="6" name="Text 2"/>
          <p:cNvSpPr txBox="1"/>
          <p:nvPr/>
        </p:nvSpPr>
        <p:spPr>
          <a:xfrm>
            <a:off x="1097280" y="4114800"/>
            <a:ext cx="2560320" cy="64008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תמונה: מהמסלול / טקס סיום / הצוות</a:t>
            </a:r>
            <a:endParaRPr lang="he-IL" sz="1200" dirty="0"/>
          </a:p>
        </p:txBody>
      </p:sp>
      <p:sp>
        <p:nvSpPr>
          <p:cNvPr id="7" name="Shape 3"/>
          <p:cNvSpPr/>
          <p:nvPr/>
        </p:nvSpPr>
        <p:spPr>
          <a:xfrm>
            <a:off x="7970368" y="1645920"/>
            <a:ext cx="3398368" cy="2103120"/>
          </a:xfrm>
          <a:prstGeom prst="roundRect">
            <a:avLst>
              <a:gd name="adj" fmla="val 5217"/>
            </a:avLst>
          </a:prstGeom>
          <a:solidFill>
            <a:srgbClr val="FFFFFF"/>
          </a:solidFill>
          <a:ln w="9525">
            <a:solidFill>
              <a:srgbClr val="E2DCD2"/>
            </a:solidFill>
            <a:prstDash val="solid"/>
          </a:ln>
        </p:spPr>
      </p:sp>
      <p:sp>
        <p:nvSpPr>
          <p:cNvPr id="8" name="Shape 4"/>
          <p:cNvSpPr/>
          <p:nvPr/>
        </p:nvSpPr>
        <p:spPr>
          <a:xfrm>
            <a:off x="10545775" y="1920240"/>
            <a:ext cx="548640" cy="548640"/>
          </a:xfrm>
          <a:prstGeom prst="ellipse">
            <a:avLst/>
          </a:prstGeom>
          <a:solidFill>
            <a:srgbClr val="D9B78C"/>
          </a:solidFill>
          <a:ln w="12700">
            <a:solidFill>
              <a:srgbClr val="D9B78C"/>
            </a:solidFill>
            <a:prstDash val="solid"/>
          </a:ln>
        </p:spPr>
      </p:sp>
      <p:pic>
        <p:nvPicPr>
          <p:cNvPr id="9" name="Image 2" descr="preencoded.png">    </p:cNvPr>
          <p:cNvPicPr>
            <a:picLocks noChangeAspect="1"/>
          </p:cNvPicPr>
          <p:nvPr/>
        </p:nvPicPr>
        <p:blipFill>
          <a:blip r:embed="rId3"/>
          <a:stretch>
            <a:fillRect/>
          </a:stretch>
        </p:blipFill>
        <p:spPr>
          <a:xfrm>
            <a:off x="10682935" y="2057400"/>
            <a:ext cx="274320" cy="274320"/>
          </a:xfrm>
          <a:prstGeom prst="rect">
            <a:avLst/>
          </a:prstGeom>
        </p:spPr>
      </p:pic>
      <p:sp>
        <p:nvSpPr>
          <p:cNvPr id="10" name="Text 5"/>
          <p:cNvSpPr txBox="1"/>
          <p:nvPr/>
        </p:nvSpPr>
        <p:spPr>
          <a:xfrm>
            <a:off x="8244688" y="192024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למה רציתי להגיע לשם</a:t>
            </a:r>
            <a:endParaRPr lang="he-IL" sz="1700" dirty="0"/>
          </a:p>
        </p:txBody>
      </p:sp>
      <p:sp>
        <p:nvSpPr>
          <p:cNvPr id="11" name="Text 6"/>
          <p:cNvSpPr txBox="1"/>
          <p:nvPr/>
        </p:nvSpPr>
        <p:spPr>
          <a:xfrm>
            <a:off x="8244688" y="256032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כי אני אוהב אתגרים. ורציתי להוכיח לעצמי שאני באמת תותח כמו שאני מרגיש – בניגוד למה שאמרו לי כל הזמן.</a:t>
            </a:r>
            <a:endParaRPr lang="he-IL" sz="1300" dirty="0"/>
          </a:p>
        </p:txBody>
      </p:sp>
      <p:sp>
        <p:nvSpPr>
          <p:cNvPr id="12" name="Shape 7"/>
          <p:cNvSpPr/>
          <p:nvPr/>
        </p:nvSpPr>
        <p:spPr>
          <a:xfrm>
            <a:off x="4297680" y="1645920"/>
            <a:ext cx="3398368" cy="2103120"/>
          </a:xfrm>
          <a:prstGeom prst="roundRect">
            <a:avLst>
              <a:gd name="adj" fmla="val 5217"/>
            </a:avLst>
          </a:prstGeom>
          <a:solidFill>
            <a:srgbClr val="FFFFFF"/>
          </a:solidFill>
          <a:ln w="9525">
            <a:solidFill>
              <a:srgbClr val="E2DCD2"/>
            </a:solidFill>
            <a:prstDash val="solid"/>
          </a:ln>
        </p:spPr>
      </p:sp>
      <p:sp>
        <p:nvSpPr>
          <p:cNvPr id="13" name="Shape 8"/>
          <p:cNvSpPr/>
          <p:nvPr/>
        </p:nvSpPr>
        <p:spPr>
          <a:xfrm>
            <a:off x="6873088" y="1920240"/>
            <a:ext cx="548640" cy="548640"/>
          </a:xfrm>
          <a:prstGeom prst="ellipse">
            <a:avLst/>
          </a:prstGeom>
          <a:solidFill>
            <a:srgbClr val="D9B78C"/>
          </a:solidFill>
          <a:ln w="12700">
            <a:solidFill>
              <a:srgbClr val="D9B78C"/>
            </a:solidFill>
            <a:prstDash val="solid"/>
          </a:ln>
        </p:spPr>
      </p:sp>
      <p:pic>
        <p:nvPicPr>
          <p:cNvPr id="14" name="Image 3" descr="preencoded.png">    </p:cNvPr>
          <p:cNvPicPr>
            <a:picLocks noChangeAspect="1"/>
          </p:cNvPicPr>
          <p:nvPr/>
        </p:nvPicPr>
        <p:blipFill>
          <a:blip r:embed="rId4"/>
          <a:stretch>
            <a:fillRect/>
          </a:stretch>
        </p:blipFill>
        <p:spPr>
          <a:xfrm>
            <a:off x="7010248" y="2057400"/>
            <a:ext cx="274320" cy="274320"/>
          </a:xfrm>
          <a:prstGeom prst="rect">
            <a:avLst/>
          </a:prstGeom>
        </p:spPr>
      </p:pic>
      <p:sp>
        <p:nvSpPr>
          <p:cNvPr id="15" name="Text 9"/>
          <p:cNvSpPr txBox="1"/>
          <p:nvPr/>
        </p:nvSpPr>
        <p:spPr>
          <a:xfrm>
            <a:off x="4572000" y="192024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מה זה עלה לי</a:t>
            </a:r>
            <a:endParaRPr lang="he-IL" sz="1700" dirty="0"/>
          </a:p>
        </p:txBody>
      </p:sp>
      <p:sp>
        <p:nvSpPr>
          <p:cNvPr id="16" name="Text 10"/>
          <p:cNvSpPr txBox="1"/>
          <p:nvPr/>
        </p:nvSpPr>
        <p:spPr>
          <a:xfrm>
            <a:off x="4572000" y="256032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קושי פיזי ומנטלי, ובמקביל – כל מיני קשיים בבית שלא עצרו בשביל המסלול.</a:t>
            </a:r>
            <a:endParaRPr lang="he-IL" sz="1300" dirty="0"/>
          </a:p>
        </p:txBody>
      </p:sp>
      <p:sp>
        <p:nvSpPr>
          <p:cNvPr id="17" name="Shape 11"/>
          <p:cNvSpPr/>
          <p:nvPr/>
        </p:nvSpPr>
        <p:spPr>
          <a:xfrm>
            <a:off x="7970368" y="4023360"/>
            <a:ext cx="3398368" cy="2103120"/>
          </a:xfrm>
          <a:prstGeom prst="roundRect">
            <a:avLst>
              <a:gd name="adj" fmla="val 5217"/>
            </a:avLst>
          </a:prstGeom>
          <a:solidFill>
            <a:srgbClr val="FFFFFF"/>
          </a:solidFill>
          <a:ln w="9525">
            <a:solidFill>
              <a:srgbClr val="E2DCD2"/>
            </a:solidFill>
            <a:prstDash val="solid"/>
          </a:ln>
        </p:spPr>
      </p:sp>
      <p:sp>
        <p:nvSpPr>
          <p:cNvPr id="18" name="Shape 12"/>
          <p:cNvSpPr/>
          <p:nvPr/>
        </p:nvSpPr>
        <p:spPr>
          <a:xfrm>
            <a:off x="10545775" y="4297680"/>
            <a:ext cx="548640" cy="548640"/>
          </a:xfrm>
          <a:prstGeom prst="ellipse">
            <a:avLst/>
          </a:prstGeom>
          <a:solidFill>
            <a:srgbClr val="D9B78C"/>
          </a:solidFill>
          <a:ln w="12700">
            <a:solidFill>
              <a:srgbClr val="D9B78C"/>
            </a:solidFill>
            <a:prstDash val="solid"/>
          </a:ln>
        </p:spPr>
      </p:sp>
      <p:pic>
        <p:nvPicPr>
          <p:cNvPr id="19" name="Image 4" descr="preencoded.png">    </p:cNvPr>
          <p:cNvPicPr>
            <a:picLocks noChangeAspect="1"/>
          </p:cNvPicPr>
          <p:nvPr/>
        </p:nvPicPr>
        <p:blipFill>
          <a:blip r:embed="rId5"/>
          <a:stretch>
            <a:fillRect/>
          </a:stretch>
        </p:blipFill>
        <p:spPr>
          <a:xfrm>
            <a:off x="10682935" y="4434840"/>
            <a:ext cx="274320" cy="274320"/>
          </a:xfrm>
          <a:prstGeom prst="rect">
            <a:avLst/>
          </a:prstGeom>
        </p:spPr>
      </p:pic>
      <p:sp>
        <p:nvSpPr>
          <p:cNvPr id="20" name="Text 13"/>
          <p:cNvSpPr txBox="1"/>
          <p:nvPr/>
        </p:nvSpPr>
        <p:spPr>
          <a:xfrm>
            <a:off x="8244688" y="429768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מי השפיע עליי</a:t>
            </a:r>
            <a:endParaRPr lang="he-IL" sz="1700" dirty="0"/>
          </a:p>
        </p:txBody>
      </p:sp>
      <p:sp>
        <p:nvSpPr>
          <p:cNvPr id="21" name="Text 14"/>
          <p:cNvSpPr txBox="1"/>
          <p:nvPr/>
        </p:nvSpPr>
        <p:spPr>
          <a:xfrm>
            <a:off x="8244688" y="493776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קליין וברנש, המפקצ׳ והמג״ד שלי. שני אנשים שונים לגמרי – ושני שיעורים שנשארו איתי (בשקף הבא).</a:t>
            </a:r>
            <a:endParaRPr lang="he-IL" sz="1300" dirty="0"/>
          </a:p>
        </p:txBody>
      </p:sp>
      <p:sp>
        <p:nvSpPr>
          <p:cNvPr id="22" name="Shape 15"/>
          <p:cNvSpPr/>
          <p:nvPr/>
        </p:nvSpPr>
        <p:spPr>
          <a:xfrm>
            <a:off x="4297680" y="4023360"/>
            <a:ext cx="3398368" cy="2103120"/>
          </a:xfrm>
          <a:prstGeom prst="roundRect">
            <a:avLst>
              <a:gd name="adj" fmla="val 5217"/>
            </a:avLst>
          </a:prstGeom>
          <a:solidFill>
            <a:srgbClr val="FFFFFF"/>
          </a:solidFill>
          <a:ln w="9525">
            <a:solidFill>
              <a:srgbClr val="E2DCD2"/>
            </a:solidFill>
            <a:prstDash val="solid"/>
          </a:ln>
        </p:spPr>
      </p:sp>
      <p:sp>
        <p:nvSpPr>
          <p:cNvPr id="23" name="Shape 16"/>
          <p:cNvSpPr/>
          <p:nvPr/>
        </p:nvSpPr>
        <p:spPr>
          <a:xfrm>
            <a:off x="6873088" y="4297680"/>
            <a:ext cx="548640" cy="548640"/>
          </a:xfrm>
          <a:prstGeom prst="ellipse">
            <a:avLst/>
          </a:prstGeom>
          <a:solidFill>
            <a:srgbClr val="D9B78C"/>
          </a:solidFill>
          <a:ln w="12700">
            <a:solidFill>
              <a:srgbClr val="D9B78C"/>
            </a:solidFill>
            <a:prstDash val="solid"/>
          </a:ln>
        </p:spPr>
      </p:sp>
      <p:pic>
        <p:nvPicPr>
          <p:cNvPr id="24" name="Image 5" descr="preencoded.png">    </p:cNvPr>
          <p:cNvPicPr>
            <a:picLocks noChangeAspect="1"/>
          </p:cNvPicPr>
          <p:nvPr/>
        </p:nvPicPr>
        <p:blipFill>
          <a:blip r:embed="rId6"/>
          <a:stretch>
            <a:fillRect/>
          </a:stretch>
        </p:blipFill>
        <p:spPr>
          <a:xfrm>
            <a:off x="7010248" y="4434840"/>
            <a:ext cx="274320" cy="274320"/>
          </a:xfrm>
          <a:prstGeom prst="rect">
            <a:avLst/>
          </a:prstGeom>
        </p:spPr>
      </p:pic>
      <p:sp>
        <p:nvSpPr>
          <p:cNvPr id="25" name="Text 17"/>
          <p:cNvSpPr txBox="1"/>
          <p:nvPr/>
        </p:nvSpPr>
        <p:spPr>
          <a:xfrm>
            <a:off x="4572000" y="4297680"/>
            <a:ext cx="2209648" cy="548640"/>
          </a:xfrm>
          <a:prstGeom prst="rect">
            <a:avLst/>
          </a:prstGeom>
          <a:noFill/>
          <a:ln/>
        </p:spPr>
        <p:txBody>
          <a:bodyPr wrap="square" lIns="0" tIns="0" rIns="0" bIns="0" rtlCol="0" anchor="ctr"/>
          <a:lstStyle/>
          <a:p>
            <a:pPr rtl="1" algn="r" indent="0" marL="0">
              <a:buNone/>
            </a:pPr>
            <a:r>
              <a:rPr lang="he-IL" altLang="en-US" sz="1700" b="1" dirty="0">
                <a:solidFill>
                  <a:srgbClr val="1C1F26"/>
                </a:solidFill>
                <a:latin typeface="Arial" pitchFamily="34" charset="0"/>
                <a:ea typeface="Arial" pitchFamily="34" charset="-122"/>
                <a:cs typeface="Arial" pitchFamily="34" charset="-120"/>
              </a:rPr>
              <a:t>מה הצבא לימד אותי על עצמי</a:t>
            </a:r>
            <a:endParaRPr lang="he-IL" sz="1700" dirty="0"/>
          </a:p>
        </p:txBody>
      </p:sp>
      <p:sp>
        <p:nvSpPr>
          <p:cNvPr id="26" name="Text 18"/>
          <p:cNvSpPr txBox="1"/>
          <p:nvPr/>
        </p:nvSpPr>
        <p:spPr>
          <a:xfrm>
            <a:off x="4572000" y="4937760"/>
            <a:ext cx="2849728" cy="1005840"/>
          </a:xfrm>
          <a:prstGeom prst="rect">
            <a:avLst/>
          </a:prstGeom>
          <a:noFill/>
          <a:ln/>
        </p:spPr>
        <p:txBody>
          <a:bodyPr wrap="square" lIns="0" tIns="0" rIns="0" bIns="0" rtlCol="0" anchor="t"/>
          <a:lstStyle/>
          <a:p>
            <a:pPr rtl="1" algn="r" indent="0" marL="0">
              <a:buNone/>
            </a:pPr>
            <a:r>
              <a:rPr lang="he-IL" altLang="en-US" sz="1300" dirty="0">
                <a:solidFill>
                  <a:srgbClr val="6B7280"/>
                </a:solidFill>
                <a:latin typeface="Arial" pitchFamily="34" charset="0"/>
                <a:ea typeface="Arial" pitchFamily="34" charset="-122"/>
                <a:cs typeface="Arial" pitchFamily="34" charset="-120"/>
              </a:rPr>
              <a:t>שהכול בראש. ושתמיד אפשר להשתפר ולהיות יותר ויותר טוב.</a:t>
            </a:r>
            <a:endParaRPr lang="he-IL" sz="1300" dirty="0"/>
          </a:p>
        </p:txBody>
      </p:sp>
      <p:sp>
        <p:nvSpPr>
          <p:cNvPr id="27" name="Text 19"/>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FFFFFF"/>
                </a:solidFill>
                <a:latin typeface="Arial" pitchFamily="34" charset="0"/>
                <a:ea typeface="Arial" pitchFamily="34" charset="-122"/>
                <a:cs typeface="Arial" pitchFamily="34" charset="-120"/>
              </a:rPr>
              <a:t>שני מפקדים. שני שיעורים.</a:t>
            </a:r>
            <a:endParaRPr lang="he-IL" sz="3600" dirty="0"/>
          </a:p>
        </p:txBody>
      </p:sp>
      <p:sp>
        <p:nvSpPr>
          <p:cNvPr id="3" name="Shape 1"/>
          <p:cNvSpPr/>
          <p:nvPr/>
        </p:nvSpPr>
        <p:spPr>
          <a:xfrm>
            <a:off x="6278728" y="1645920"/>
            <a:ext cx="5090008" cy="4297680"/>
          </a:xfrm>
          <a:prstGeom prst="roundRect">
            <a:avLst>
              <a:gd name="adj" fmla="val 2979"/>
            </a:avLst>
          </a:prstGeom>
          <a:solidFill>
            <a:srgbClr val="171C24"/>
          </a:solidFill>
          <a:ln w="9525">
            <a:solidFill>
              <a:srgbClr val="2A313C"/>
            </a:solidFill>
            <a:prstDash val="solid"/>
          </a:ln>
        </p:spPr>
      </p:sp>
      <p:sp>
        <p:nvSpPr>
          <p:cNvPr id="4" name="Text 2"/>
          <p:cNvSpPr txBox="1"/>
          <p:nvPr/>
        </p:nvSpPr>
        <p:spPr>
          <a:xfrm>
            <a:off x="6644488" y="1965960"/>
            <a:ext cx="4358488" cy="731520"/>
          </a:xfrm>
          <a:prstGeom prst="rect">
            <a:avLst/>
          </a:prstGeom>
          <a:noFill/>
          <a:ln/>
        </p:spPr>
        <p:txBody>
          <a:bodyPr wrap="square" lIns="0" tIns="0" rIns="0" bIns="0" rtlCol="0" anchor="t"/>
          <a:lstStyle/>
          <a:p>
            <a:pPr rtl="1" algn="r" indent="0" marL="0">
              <a:buNone/>
            </a:pPr>
            <a:r>
              <a:rPr lang="he-IL" altLang="en-US" sz="4000" b="1" dirty="0">
                <a:solidFill>
                  <a:srgbClr val="D9B78C"/>
                </a:solidFill>
                <a:latin typeface="Arial" pitchFamily="34" charset="0"/>
                <a:ea typeface="Arial" pitchFamily="34" charset="-122"/>
                <a:cs typeface="Arial" pitchFamily="34" charset="-120"/>
              </a:rPr>
              <a:t>קליין</a:t>
            </a:r>
            <a:endParaRPr lang="he-IL" sz="4000" dirty="0"/>
          </a:p>
        </p:txBody>
      </p:sp>
      <p:sp>
        <p:nvSpPr>
          <p:cNvPr id="5" name="Text 3"/>
          <p:cNvSpPr txBox="1"/>
          <p:nvPr/>
        </p:nvSpPr>
        <p:spPr>
          <a:xfrm>
            <a:off x="6644488" y="2697480"/>
            <a:ext cx="4358488" cy="365760"/>
          </a:xfrm>
          <a:prstGeom prst="rect">
            <a:avLst/>
          </a:prstGeom>
          <a:noFill/>
          <a:ln/>
        </p:spPr>
        <p:txBody>
          <a:bodyPr wrap="square" lIns="0" tIns="0" rIns="0" bIns="0" rtlCol="0" anchor="t"/>
          <a:lstStyle/>
          <a:p>
            <a:pPr rtl="1" algn="r" indent="0" marL="0">
              <a:buNone/>
            </a:pPr>
            <a:r>
              <a:rPr lang="he-IL" altLang="en-US" sz="1400" dirty="0">
                <a:solidFill>
                  <a:srgbClr val="A7ADB8"/>
                </a:solidFill>
                <a:latin typeface="Arial" pitchFamily="34" charset="0"/>
                <a:ea typeface="Arial" pitchFamily="34" charset="-122"/>
                <a:cs typeface="Arial" pitchFamily="34" charset="-120"/>
              </a:rPr>
              <a:t>המפקצ׳</a:t>
            </a:r>
            <a:endParaRPr lang="he-IL" sz="1400" dirty="0"/>
          </a:p>
        </p:txBody>
      </p:sp>
      <p:sp>
        <p:nvSpPr>
          <p:cNvPr id="6" name="Text 4"/>
          <p:cNvSpPr txBox="1"/>
          <p:nvPr/>
        </p:nvSpPr>
        <p:spPr>
          <a:xfrm>
            <a:off x="6644488" y="3246120"/>
            <a:ext cx="4358488" cy="1005840"/>
          </a:xfrm>
          <a:prstGeom prst="rect">
            <a:avLst/>
          </a:prstGeom>
          <a:noFill/>
          <a:ln/>
        </p:spPr>
        <p:txBody>
          <a:bodyPr wrap="square" lIns="0" tIns="0" rIns="0" bIns="0" rtlCol="0" anchor="t"/>
          <a:lstStyle/>
          <a:p>
            <a:pPr rtl="1" algn="r" indent="0" marL="0">
              <a:buNone/>
            </a:pPr>
            <a:r>
              <a:rPr lang="he-IL" altLang="en-US" sz="2200" b="1" dirty="0">
                <a:solidFill>
                  <a:srgbClr val="FFFFFF"/>
                </a:solidFill>
                <a:latin typeface="Arial" pitchFamily="34" charset="0"/>
                <a:ea typeface="Arial" pitchFamily="34" charset="-122"/>
                <a:cs typeface="Arial" pitchFamily="34" charset="-120"/>
              </a:rPr>
              <a:t>מצוינות. מקצועיות. לעשות דברים כמו שצריך – ועד הסוף.</a:t>
            </a:r>
            <a:endParaRPr lang="he-IL" sz="2200" dirty="0"/>
          </a:p>
        </p:txBody>
      </p:sp>
      <p:sp>
        <p:nvSpPr>
          <p:cNvPr id="7" name="Text 5"/>
          <p:cNvSpPr txBox="1"/>
          <p:nvPr/>
        </p:nvSpPr>
        <p:spPr>
          <a:xfrm>
            <a:off x="6644488" y="4343400"/>
            <a:ext cx="4358488" cy="1463040"/>
          </a:xfrm>
          <a:prstGeom prst="rect">
            <a:avLst/>
          </a:prstGeom>
          <a:noFill/>
          <a:ln/>
        </p:spPr>
        <p:txBody>
          <a:bodyPr wrap="square" lIns="0" tIns="0" rIns="0" bIns="0" rtlCol="0" anchor="t"/>
          <a:lstStyle/>
          <a:p>
            <a:pPr rtl="1" algn="r" indent="0" marL="0">
              <a:buNone/>
            </a:pPr>
            <a:r>
              <a:rPr lang="he-IL" altLang="en-US" sz="1450" dirty="0">
                <a:solidFill>
                  <a:srgbClr val="A7ADB8"/>
                </a:solidFill>
                <a:latin typeface="Arial" pitchFamily="34" charset="0"/>
                <a:ea typeface="Arial" pitchFamily="34" charset="-122"/>
                <a:cs typeface="Arial" pitchFamily="34" charset="-120"/>
              </a:rPr>
              <a:t>המסגרת שהוא הכניס אותנו אליה לא נגמרה בשחרור. עד היום אני במשטר אימונים בגללו.</a:t>
            </a:r>
            <a:endParaRPr lang="he-IL" sz="1450" dirty="0"/>
          </a:p>
        </p:txBody>
      </p:sp>
      <p:sp>
        <p:nvSpPr>
          <p:cNvPr id="8" name="Shape 6"/>
          <p:cNvSpPr/>
          <p:nvPr/>
        </p:nvSpPr>
        <p:spPr>
          <a:xfrm>
            <a:off x="822960" y="1645920"/>
            <a:ext cx="5090008" cy="4297680"/>
          </a:xfrm>
          <a:prstGeom prst="roundRect">
            <a:avLst>
              <a:gd name="adj" fmla="val 2979"/>
            </a:avLst>
          </a:prstGeom>
          <a:solidFill>
            <a:srgbClr val="171C24"/>
          </a:solidFill>
          <a:ln w="9525">
            <a:solidFill>
              <a:srgbClr val="2A313C"/>
            </a:solidFill>
            <a:prstDash val="solid"/>
          </a:ln>
        </p:spPr>
      </p:sp>
      <p:sp>
        <p:nvSpPr>
          <p:cNvPr id="9" name="Text 7"/>
          <p:cNvSpPr txBox="1"/>
          <p:nvPr/>
        </p:nvSpPr>
        <p:spPr>
          <a:xfrm>
            <a:off x="1188720" y="1965960"/>
            <a:ext cx="4358488" cy="731520"/>
          </a:xfrm>
          <a:prstGeom prst="rect">
            <a:avLst/>
          </a:prstGeom>
          <a:noFill/>
          <a:ln/>
        </p:spPr>
        <p:txBody>
          <a:bodyPr wrap="square" lIns="0" tIns="0" rIns="0" bIns="0" rtlCol="0" anchor="t"/>
          <a:lstStyle/>
          <a:p>
            <a:pPr rtl="1" algn="r" indent="0" marL="0">
              <a:buNone/>
            </a:pPr>
            <a:r>
              <a:rPr lang="he-IL" altLang="en-US" sz="4000" b="1" dirty="0">
                <a:solidFill>
                  <a:srgbClr val="D9B78C"/>
                </a:solidFill>
                <a:latin typeface="Arial" pitchFamily="34" charset="0"/>
                <a:ea typeface="Arial" pitchFamily="34" charset="-122"/>
                <a:cs typeface="Arial" pitchFamily="34" charset="-120"/>
              </a:rPr>
              <a:t>ברנש</a:t>
            </a:r>
            <a:endParaRPr lang="he-IL" sz="4000" dirty="0"/>
          </a:p>
        </p:txBody>
      </p:sp>
      <p:sp>
        <p:nvSpPr>
          <p:cNvPr id="10" name="Text 8"/>
          <p:cNvSpPr txBox="1"/>
          <p:nvPr/>
        </p:nvSpPr>
        <p:spPr>
          <a:xfrm>
            <a:off x="1188720" y="2697480"/>
            <a:ext cx="4358488" cy="365760"/>
          </a:xfrm>
          <a:prstGeom prst="rect">
            <a:avLst/>
          </a:prstGeom>
          <a:noFill/>
          <a:ln/>
        </p:spPr>
        <p:txBody>
          <a:bodyPr wrap="square" lIns="0" tIns="0" rIns="0" bIns="0" rtlCol="0" anchor="t"/>
          <a:lstStyle/>
          <a:p>
            <a:pPr rtl="1" algn="r" indent="0" marL="0">
              <a:buNone/>
            </a:pPr>
            <a:r>
              <a:rPr lang="he-IL" altLang="en-US" sz="1400" dirty="0">
                <a:solidFill>
                  <a:srgbClr val="A7ADB8"/>
                </a:solidFill>
                <a:latin typeface="Arial" pitchFamily="34" charset="0"/>
                <a:ea typeface="Arial" pitchFamily="34" charset="-122"/>
                <a:cs typeface="Arial" pitchFamily="34" charset="-120"/>
              </a:rPr>
              <a:t>המג״ד</a:t>
            </a:r>
            <a:endParaRPr lang="he-IL" sz="1400" dirty="0"/>
          </a:p>
        </p:txBody>
      </p:sp>
      <p:sp>
        <p:nvSpPr>
          <p:cNvPr id="11" name="Text 9"/>
          <p:cNvSpPr txBox="1"/>
          <p:nvPr/>
        </p:nvSpPr>
        <p:spPr>
          <a:xfrm>
            <a:off x="1188720" y="3246120"/>
            <a:ext cx="4358488" cy="1005840"/>
          </a:xfrm>
          <a:prstGeom prst="rect">
            <a:avLst/>
          </a:prstGeom>
          <a:noFill/>
          <a:ln/>
        </p:spPr>
        <p:txBody>
          <a:bodyPr wrap="square" lIns="0" tIns="0" rIns="0" bIns="0" rtlCol="0" anchor="t"/>
          <a:lstStyle/>
          <a:p>
            <a:pPr rtl="1" algn="r" indent="0" marL="0">
              <a:buNone/>
            </a:pPr>
            <a:r>
              <a:rPr lang="he-IL" altLang="en-US" sz="2200" b="1" dirty="0">
                <a:solidFill>
                  <a:srgbClr val="FFFFFF"/>
                </a:solidFill>
                <a:latin typeface="Arial" pitchFamily="34" charset="0"/>
                <a:ea typeface="Arial" pitchFamily="34" charset="-122"/>
                <a:cs typeface="Arial" pitchFamily="34" charset="-120"/>
              </a:rPr>
              <a:t>קודם כל בן אדם.</a:t>
            </a:r>
            <a:endParaRPr lang="he-IL" sz="2200" dirty="0"/>
          </a:p>
        </p:txBody>
      </p:sp>
      <p:sp>
        <p:nvSpPr>
          <p:cNvPr id="12" name="Text 10"/>
          <p:cNvSpPr txBox="1"/>
          <p:nvPr/>
        </p:nvSpPr>
        <p:spPr>
          <a:xfrm>
            <a:off x="1188720" y="4343400"/>
            <a:ext cx="4358488" cy="1463040"/>
          </a:xfrm>
          <a:prstGeom prst="rect">
            <a:avLst/>
          </a:prstGeom>
          <a:noFill/>
          <a:ln/>
        </p:spPr>
        <p:txBody>
          <a:bodyPr wrap="square" lIns="0" tIns="0" rIns="0" bIns="0" rtlCol="0" anchor="t"/>
          <a:lstStyle/>
          <a:p>
            <a:pPr rtl="1" algn="r" indent="0" marL="0">
              <a:buNone/>
            </a:pPr>
            <a:r>
              <a:rPr lang="he-IL" altLang="en-US" sz="1450" dirty="0">
                <a:solidFill>
                  <a:srgbClr val="A7ADB8"/>
                </a:solidFill>
                <a:latin typeface="Arial" pitchFamily="34" charset="0"/>
                <a:ea typeface="Arial" pitchFamily="34" charset="-122"/>
                <a:cs typeface="Arial" pitchFamily="34" charset="-120"/>
              </a:rPr>
              <a:t>הגיע משלדג, פיקד בתפקידים רבים, עטור שבחים והישגים בכל תחום. ובכל זאת: ידע את השמות של רוב החיילים, התייעץ איתנו על דברים מבצעיים, ודיבר איתנו כחבר – לא כמג״ד לחייל.</a:t>
            </a:r>
            <a:endParaRPr lang="he-IL" sz="1450" dirty="0"/>
          </a:p>
        </p:txBody>
      </p:sp>
      <p:sp>
        <p:nvSpPr>
          <p:cNvPr id="13" name="Text 11"/>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1005840"/>
          </a:xfrm>
          <a:prstGeom prst="rect">
            <a:avLst/>
          </a:prstGeom>
          <a:noFill/>
          <a:ln/>
        </p:spPr>
        <p:txBody>
          <a:bodyPr wrap="square" lIns="0" tIns="0" rIns="0" bIns="0" rtlCol="0" anchor="t"/>
          <a:lstStyle/>
          <a:p>
            <a:pPr rtl="1" algn="ctr" indent="0" marL="0">
              <a:buNone/>
            </a:pPr>
            <a:r>
              <a:rPr lang="he-IL" altLang="en-US" sz="4400" b="1" dirty="0">
                <a:solidFill>
                  <a:srgbClr val="A7ADB8"/>
                </a:solidFill>
                <a:latin typeface="Arial" pitchFamily="34" charset="0"/>
                <a:ea typeface="Arial" pitchFamily="34" charset="-122"/>
                <a:cs typeface="Arial" pitchFamily="34" charset="-120"/>
              </a:rPr>
              <a:t>מוטיבציה מביאה אותך להתחלה.</a:t>
            </a:r>
            <a:endParaRPr lang="he-IL" sz="4400" dirty="0"/>
          </a:p>
        </p:txBody>
      </p:sp>
      <p:sp>
        <p:nvSpPr>
          <p:cNvPr id="3" name="Text 1"/>
          <p:cNvSpPr txBox="1"/>
          <p:nvPr/>
        </p:nvSpPr>
        <p:spPr>
          <a:xfrm>
            <a:off x="914400" y="3108960"/>
            <a:ext cx="10362895" cy="1097280"/>
          </a:xfrm>
          <a:prstGeom prst="rect">
            <a:avLst/>
          </a:prstGeom>
          <a:noFill/>
          <a:ln/>
        </p:spPr>
        <p:txBody>
          <a:bodyPr wrap="square" lIns="0" tIns="0" rIns="0" bIns="0" rtlCol="0" anchor="t"/>
          <a:lstStyle/>
          <a:p>
            <a:pPr rtl="1" algn="ctr" indent="0" marL="0">
              <a:buNone/>
            </a:pPr>
            <a:r>
              <a:rPr lang="he-IL" altLang="en-US" sz="5200" b="1" dirty="0">
                <a:solidFill>
                  <a:srgbClr val="D9B78C"/>
                </a:solidFill>
                <a:latin typeface="Arial" pitchFamily="34" charset="0"/>
                <a:ea typeface="Arial" pitchFamily="34" charset="-122"/>
                <a:cs typeface="Arial" pitchFamily="34" charset="-120"/>
              </a:rPr>
              <a:t>משמעת מביאה אותך לסוף.</a:t>
            </a:r>
            <a:endParaRPr lang="he-IL" sz="5200" dirty="0"/>
          </a:p>
        </p:txBody>
      </p:sp>
      <p:sp>
        <p:nvSpPr>
          <p:cNvPr id="4" name="Text 2"/>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03</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7 באוקטובר</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לא ״בשעה X קרה Y״. מה חשבתי בכל שלב.</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FFFFFF"/>
                </a:solidFill>
                <a:latin typeface="Arial" pitchFamily="34" charset="0"/>
                <a:ea typeface="Arial" pitchFamily="34" charset="-122"/>
                <a:cs typeface="Arial" pitchFamily="34" charset="-120"/>
              </a:rPr>
              <a:t>שבעה שלבים באותו יום</a:t>
            </a:r>
            <a:endParaRPr lang="he-IL" sz="3600" dirty="0"/>
          </a:p>
        </p:txBody>
      </p:sp>
      <p:sp>
        <p:nvSpPr>
          <p:cNvPr id="3" name="Shape 1"/>
          <p:cNvSpPr/>
          <p:nvPr/>
        </p:nvSpPr>
        <p:spPr>
          <a:xfrm>
            <a:off x="1505690" y="2926080"/>
            <a:ext cx="9180315" cy="0"/>
          </a:xfrm>
          <a:prstGeom prst="line">
            <a:avLst/>
          </a:prstGeom>
          <a:noFill/>
          <a:ln w="25400">
            <a:solidFill>
              <a:srgbClr val="3A4150"/>
            </a:solidFill>
            <a:prstDash val="solid"/>
          </a:ln>
        </p:spPr>
      </p:sp>
      <p:sp>
        <p:nvSpPr>
          <p:cNvPr id="4" name="Shape 2"/>
          <p:cNvSpPr/>
          <p:nvPr/>
        </p:nvSpPr>
        <p:spPr>
          <a:xfrm>
            <a:off x="10411685" y="2651760"/>
            <a:ext cx="548640" cy="548640"/>
          </a:xfrm>
          <a:prstGeom prst="ellipse">
            <a:avLst/>
          </a:prstGeom>
          <a:solidFill>
            <a:srgbClr val="171C24"/>
          </a:solidFill>
          <a:ln w="19050">
            <a:solidFill>
              <a:srgbClr val="D9B78C"/>
            </a:solidFill>
            <a:prstDash val="solid"/>
          </a:ln>
        </p:spPr>
      </p:sp>
      <p:sp>
        <p:nvSpPr>
          <p:cNvPr id="5" name="Text 3"/>
          <p:cNvSpPr txBox="1"/>
          <p:nvPr/>
        </p:nvSpPr>
        <p:spPr>
          <a:xfrm>
            <a:off x="10411685"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1</a:t>
            </a:r>
            <a:endParaRPr lang="he-IL" sz="1400" dirty="0"/>
          </a:p>
        </p:txBody>
      </p:sp>
      <p:sp>
        <p:nvSpPr>
          <p:cNvPr id="6" name="Text 4"/>
          <p:cNvSpPr txBox="1"/>
          <p:nvPr/>
        </p:nvSpPr>
        <p:spPr>
          <a:xfrm>
            <a:off x="10003275"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לפני</a:t>
            </a:r>
            <a:endParaRPr lang="he-IL" sz="1500" dirty="0"/>
          </a:p>
        </p:txBody>
      </p:sp>
      <p:sp>
        <p:nvSpPr>
          <p:cNvPr id="7" name="Shape 5"/>
          <p:cNvSpPr/>
          <p:nvPr/>
        </p:nvSpPr>
        <p:spPr>
          <a:xfrm>
            <a:off x="8881633" y="2651760"/>
            <a:ext cx="548640" cy="548640"/>
          </a:xfrm>
          <a:prstGeom prst="ellipse">
            <a:avLst/>
          </a:prstGeom>
          <a:solidFill>
            <a:srgbClr val="171C24"/>
          </a:solidFill>
          <a:ln w="19050">
            <a:solidFill>
              <a:srgbClr val="D9B78C"/>
            </a:solidFill>
            <a:prstDash val="solid"/>
          </a:ln>
        </p:spPr>
      </p:sp>
      <p:sp>
        <p:nvSpPr>
          <p:cNvPr id="8" name="Text 6"/>
          <p:cNvSpPr txBox="1"/>
          <p:nvPr/>
        </p:nvSpPr>
        <p:spPr>
          <a:xfrm>
            <a:off x="8881633"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2</a:t>
            </a:r>
            <a:endParaRPr lang="he-IL" sz="1400" dirty="0"/>
          </a:p>
        </p:txBody>
      </p:sp>
      <p:sp>
        <p:nvSpPr>
          <p:cNvPr id="9" name="Text 7"/>
          <p:cNvSpPr txBox="1"/>
          <p:nvPr/>
        </p:nvSpPr>
        <p:spPr>
          <a:xfrm>
            <a:off x="8473222"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ההבנה שמשהו לא רגיל קורה</a:t>
            </a:r>
            <a:endParaRPr lang="he-IL" sz="1500" dirty="0"/>
          </a:p>
        </p:txBody>
      </p:sp>
      <p:sp>
        <p:nvSpPr>
          <p:cNvPr id="10" name="Shape 8"/>
          <p:cNvSpPr/>
          <p:nvPr/>
        </p:nvSpPr>
        <p:spPr>
          <a:xfrm>
            <a:off x="7351580" y="2651760"/>
            <a:ext cx="548640" cy="548640"/>
          </a:xfrm>
          <a:prstGeom prst="ellipse">
            <a:avLst/>
          </a:prstGeom>
          <a:solidFill>
            <a:srgbClr val="171C24"/>
          </a:solidFill>
          <a:ln w="19050">
            <a:solidFill>
              <a:srgbClr val="D9B78C"/>
            </a:solidFill>
            <a:prstDash val="solid"/>
          </a:ln>
        </p:spPr>
      </p:sp>
      <p:sp>
        <p:nvSpPr>
          <p:cNvPr id="11" name="Text 9"/>
          <p:cNvSpPr txBox="1"/>
          <p:nvPr/>
        </p:nvSpPr>
        <p:spPr>
          <a:xfrm>
            <a:off x="7351580"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3</a:t>
            </a:r>
            <a:endParaRPr lang="he-IL" sz="1400" dirty="0"/>
          </a:p>
        </p:txBody>
      </p:sp>
      <p:sp>
        <p:nvSpPr>
          <p:cNvPr id="12" name="Text 10"/>
          <p:cNvSpPr txBox="1"/>
          <p:nvPr/>
        </p:nvSpPr>
        <p:spPr>
          <a:xfrm>
            <a:off x="6943170"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הכניסה ללחימה</a:t>
            </a:r>
            <a:endParaRPr lang="he-IL" sz="1500" dirty="0"/>
          </a:p>
        </p:txBody>
      </p:sp>
      <p:sp>
        <p:nvSpPr>
          <p:cNvPr id="13" name="Shape 11"/>
          <p:cNvSpPr/>
          <p:nvPr/>
        </p:nvSpPr>
        <p:spPr>
          <a:xfrm>
            <a:off x="5821528" y="2651760"/>
            <a:ext cx="548640" cy="548640"/>
          </a:xfrm>
          <a:prstGeom prst="ellipse">
            <a:avLst/>
          </a:prstGeom>
          <a:solidFill>
            <a:srgbClr val="D9B78C"/>
          </a:solidFill>
          <a:ln w="19050">
            <a:solidFill>
              <a:srgbClr val="D9B78C"/>
            </a:solidFill>
            <a:prstDash val="solid"/>
          </a:ln>
        </p:spPr>
      </p:sp>
      <p:sp>
        <p:nvSpPr>
          <p:cNvPr id="14" name="Text 12"/>
          <p:cNvSpPr txBox="1"/>
          <p:nvPr/>
        </p:nvSpPr>
        <p:spPr>
          <a:xfrm>
            <a:off x="5821528"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0E1116"/>
                </a:solidFill>
                <a:latin typeface="Arial" pitchFamily="34" charset="0"/>
                <a:ea typeface="Arial" pitchFamily="34" charset="-122"/>
                <a:cs typeface="Arial" pitchFamily="34" charset="-120"/>
              </a:rPr>
              <a:t>4</a:t>
            </a:r>
            <a:endParaRPr lang="he-IL" sz="1400" dirty="0"/>
          </a:p>
        </p:txBody>
      </p:sp>
      <p:sp>
        <p:nvSpPr>
          <p:cNvPr id="15" name="Text 13"/>
          <p:cNvSpPr txBox="1"/>
          <p:nvPr/>
        </p:nvSpPr>
        <p:spPr>
          <a:xfrm>
            <a:off x="5413117" y="3429000"/>
            <a:ext cx="1365460" cy="1371600"/>
          </a:xfrm>
          <a:prstGeom prst="rect">
            <a:avLst/>
          </a:prstGeom>
          <a:noFill/>
          <a:ln/>
        </p:spPr>
        <p:txBody>
          <a:bodyPr wrap="square" lIns="0" tIns="0" rIns="0" bIns="0" rtlCol="0" anchor="t"/>
          <a:lstStyle/>
          <a:p>
            <a:pPr rtl="1" algn="ctr" indent="0" marL="0">
              <a:buNone/>
            </a:pPr>
            <a:r>
              <a:rPr lang="he-IL" altLang="en-US" sz="1500" b="1" dirty="0">
                <a:solidFill>
                  <a:srgbClr val="D9B78C"/>
                </a:solidFill>
                <a:latin typeface="Arial" pitchFamily="34" charset="0"/>
                <a:ea typeface="Arial" pitchFamily="34" charset="-122"/>
                <a:cs typeface="Arial" pitchFamily="34" charset="-120"/>
              </a:rPr>
              <a:t>המארב</a:t>
            </a:r>
            <a:endParaRPr lang="he-IL" sz="1500" dirty="0"/>
          </a:p>
        </p:txBody>
      </p:sp>
      <p:sp>
        <p:nvSpPr>
          <p:cNvPr id="16" name="Shape 14"/>
          <p:cNvSpPr/>
          <p:nvPr/>
        </p:nvSpPr>
        <p:spPr>
          <a:xfrm>
            <a:off x="4291475" y="2651760"/>
            <a:ext cx="548640" cy="548640"/>
          </a:xfrm>
          <a:prstGeom prst="ellipse">
            <a:avLst/>
          </a:prstGeom>
          <a:solidFill>
            <a:srgbClr val="D9B78C"/>
          </a:solidFill>
          <a:ln w="19050">
            <a:solidFill>
              <a:srgbClr val="D9B78C"/>
            </a:solidFill>
            <a:prstDash val="solid"/>
          </a:ln>
        </p:spPr>
      </p:sp>
      <p:sp>
        <p:nvSpPr>
          <p:cNvPr id="17" name="Text 15"/>
          <p:cNvSpPr txBox="1"/>
          <p:nvPr/>
        </p:nvSpPr>
        <p:spPr>
          <a:xfrm>
            <a:off x="4291475"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0E1116"/>
                </a:solidFill>
                <a:latin typeface="Arial" pitchFamily="34" charset="0"/>
                <a:ea typeface="Arial" pitchFamily="34" charset="-122"/>
                <a:cs typeface="Arial" pitchFamily="34" charset="-120"/>
              </a:rPr>
              <a:t>5</a:t>
            </a:r>
            <a:endParaRPr lang="he-IL" sz="1400" dirty="0"/>
          </a:p>
        </p:txBody>
      </p:sp>
      <p:sp>
        <p:nvSpPr>
          <p:cNvPr id="18" name="Text 16"/>
          <p:cNvSpPr txBox="1"/>
          <p:nvPr/>
        </p:nvSpPr>
        <p:spPr>
          <a:xfrm>
            <a:off x="3883065" y="3429000"/>
            <a:ext cx="1365460" cy="1371600"/>
          </a:xfrm>
          <a:prstGeom prst="rect">
            <a:avLst/>
          </a:prstGeom>
          <a:noFill/>
          <a:ln/>
        </p:spPr>
        <p:txBody>
          <a:bodyPr wrap="square" lIns="0" tIns="0" rIns="0" bIns="0" rtlCol="0" anchor="t"/>
          <a:lstStyle/>
          <a:p>
            <a:pPr rtl="1" algn="ctr" indent="0" marL="0">
              <a:buNone/>
            </a:pPr>
            <a:r>
              <a:rPr lang="he-IL" altLang="en-US" sz="1500" b="1" dirty="0">
                <a:solidFill>
                  <a:srgbClr val="D9B78C"/>
                </a:solidFill>
                <a:latin typeface="Arial" pitchFamily="34" charset="0"/>
                <a:ea typeface="Arial" pitchFamily="34" charset="-122"/>
                <a:cs typeface="Arial" pitchFamily="34" charset="-120"/>
              </a:rPr>
              <a:t>הפציעה</a:t>
            </a:r>
            <a:endParaRPr lang="he-IL" sz="1500" dirty="0"/>
          </a:p>
        </p:txBody>
      </p:sp>
      <p:sp>
        <p:nvSpPr>
          <p:cNvPr id="19" name="Shape 17"/>
          <p:cNvSpPr/>
          <p:nvPr/>
        </p:nvSpPr>
        <p:spPr>
          <a:xfrm>
            <a:off x="2761423" y="2651760"/>
            <a:ext cx="548640" cy="548640"/>
          </a:xfrm>
          <a:prstGeom prst="ellipse">
            <a:avLst/>
          </a:prstGeom>
          <a:solidFill>
            <a:srgbClr val="171C24"/>
          </a:solidFill>
          <a:ln w="19050">
            <a:solidFill>
              <a:srgbClr val="D9B78C"/>
            </a:solidFill>
            <a:prstDash val="solid"/>
          </a:ln>
        </p:spPr>
      </p:sp>
      <p:sp>
        <p:nvSpPr>
          <p:cNvPr id="20" name="Text 18"/>
          <p:cNvSpPr txBox="1"/>
          <p:nvPr/>
        </p:nvSpPr>
        <p:spPr>
          <a:xfrm>
            <a:off x="2761423"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6</a:t>
            </a:r>
            <a:endParaRPr lang="he-IL" sz="1400" dirty="0"/>
          </a:p>
        </p:txBody>
      </p:sp>
      <p:sp>
        <p:nvSpPr>
          <p:cNvPr id="21" name="Text 19"/>
          <p:cNvSpPr txBox="1"/>
          <p:nvPr/>
        </p:nvSpPr>
        <p:spPr>
          <a:xfrm>
            <a:off x="2353012"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ההחלטה להמשיך</a:t>
            </a:r>
            <a:endParaRPr lang="he-IL" sz="1500" dirty="0"/>
          </a:p>
        </p:txBody>
      </p:sp>
      <p:sp>
        <p:nvSpPr>
          <p:cNvPr id="22" name="Shape 20"/>
          <p:cNvSpPr/>
          <p:nvPr/>
        </p:nvSpPr>
        <p:spPr>
          <a:xfrm>
            <a:off x="1231370" y="2651760"/>
            <a:ext cx="548640" cy="548640"/>
          </a:xfrm>
          <a:prstGeom prst="ellipse">
            <a:avLst/>
          </a:prstGeom>
          <a:solidFill>
            <a:srgbClr val="171C24"/>
          </a:solidFill>
          <a:ln w="19050">
            <a:solidFill>
              <a:srgbClr val="D9B78C"/>
            </a:solidFill>
            <a:prstDash val="solid"/>
          </a:ln>
        </p:spPr>
      </p:sp>
      <p:sp>
        <p:nvSpPr>
          <p:cNvPr id="23" name="Text 21"/>
          <p:cNvSpPr txBox="1"/>
          <p:nvPr/>
        </p:nvSpPr>
        <p:spPr>
          <a:xfrm>
            <a:off x="1231370" y="2651760"/>
            <a:ext cx="548640" cy="548640"/>
          </a:xfrm>
          <a:prstGeom prst="rect">
            <a:avLst/>
          </a:prstGeom>
          <a:noFill/>
          <a:ln/>
        </p:spPr>
        <p:txBody>
          <a:bodyPr wrap="square" lIns="0" tIns="0" rIns="0" bIns="0" rtlCol="0" anchor="ctr"/>
          <a:lstStyle/>
          <a:p>
            <a:pPr rtl="1" algn="ctr" indent="0" marL="0">
              <a:buNone/>
            </a:pPr>
            <a:r>
              <a:rPr lang="he-IL" altLang="en-US" sz="1400" b="1" dirty="0">
                <a:solidFill>
                  <a:srgbClr val="D9B78C"/>
                </a:solidFill>
                <a:latin typeface="Arial" pitchFamily="34" charset="0"/>
                <a:ea typeface="Arial" pitchFamily="34" charset="-122"/>
                <a:cs typeface="Arial" pitchFamily="34" charset="-120"/>
              </a:rPr>
              <a:t>7</a:t>
            </a:r>
            <a:endParaRPr lang="he-IL" sz="1400" dirty="0"/>
          </a:p>
        </p:txBody>
      </p:sp>
      <p:sp>
        <p:nvSpPr>
          <p:cNvPr id="24" name="Text 22"/>
          <p:cNvSpPr txBox="1"/>
          <p:nvPr/>
        </p:nvSpPr>
        <p:spPr>
          <a:xfrm>
            <a:off x="822960" y="3429000"/>
            <a:ext cx="1365460" cy="137160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Arial" pitchFamily="34" charset="0"/>
                <a:ea typeface="Arial" pitchFamily="34" charset="-122"/>
                <a:cs typeface="Arial" pitchFamily="34" charset="-120"/>
              </a:rPr>
              <a:t>הפינוי</a:t>
            </a:r>
            <a:endParaRPr lang="he-IL" sz="1500" dirty="0"/>
          </a:p>
        </p:txBody>
      </p:sp>
      <p:sp>
        <p:nvSpPr>
          <p:cNvPr id="25" name="Text 23"/>
          <p:cNvSpPr txBox="1"/>
          <p:nvPr/>
        </p:nvSpPr>
        <p:spPr>
          <a:xfrm>
            <a:off x="822960" y="5120640"/>
            <a:ext cx="10545775" cy="731520"/>
          </a:xfrm>
          <a:prstGeom prst="rect">
            <a:avLst/>
          </a:prstGeom>
          <a:noFill/>
          <a:ln/>
        </p:spPr>
        <p:txBody>
          <a:bodyPr wrap="square" lIns="0" tIns="0" rIns="0" bIns="0" rtlCol="0" anchor="t"/>
          <a:lstStyle/>
          <a:p>
            <a:pPr rtl="1" algn="ctr" indent="0" marL="0">
              <a:buNone/>
            </a:pPr>
            <a:r>
              <a:rPr lang="he-IL" altLang="en-US" sz="1600" dirty="0">
                <a:solidFill>
                  <a:srgbClr val="A7ADB8"/>
                </a:solidFill>
                <a:latin typeface="Arial" pitchFamily="34" charset="0"/>
                <a:ea typeface="Arial" pitchFamily="34" charset="-122"/>
                <a:cs typeface="Arial" pitchFamily="34" charset="-120"/>
              </a:rPr>
              <a:t>בכל שלב – משפט אחד על מה שעבר לי בראש. זה מה שהופך אירוע צבאי לסיפור אנושי.</a:t>
            </a:r>
            <a:endParaRPr lang="he-IL" sz="1600" dirty="0"/>
          </a:p>
        </p:txBody>
      </p:sp>
      <p:sp>
        <p:nvSpPr>
          <p:cNvPr id="26" name="Text 24"/>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822960" y="822960"/>
            <a:ext cx="4754880" cy="5212080"/>
          </a:xfrm>
          <a:prstGeom prst="roundRect">
            <a:avLst>
              <a:gd name="adj" fmla="val 2885"/>
            </a:avLst>
          </a:prstGeom>
          <a:solidFill>
            <a:srgbClr val="171C24"/>
          </a:solidFill>
          <a:ln w="15875">
            <a:solidFill>
              <a:srgbClr val="3A4150"/>
            </a:solidFill>
            <a:prstDash val="dash"/>
          </a:ln>
        </p:spPr>
      </p:sp>
      <p:pic>
        <p:nvPicPr>
          <p:cNvPr id="3" name="Image 0" descr="preencoded.png">    </p:cNvPr>
          <p:cNvPicPr>
            <a:picLocks noChangeAspect="1"/>
          </p:cNvPicPr>
          <p:nvPr/>
        </p:nvPicPr>
        <p:blipFill>
          <a:blip r:embed="rId1"/>
          <a:stretch>
            <a:fillRect/>
          </a:stretch>
        </p:blipFill>
        <p:spPr>
          <a:xfrm>
            <a:off x="2926080" y="2834640"/>
            <a:ext cx="548640" cy="548640"/>
          </a:xfrm>
          <a:prstGeom prst="rect">
            <a:avLst/>
          </a:prstGeom>
        </p:spPr>
      </p:pic>
      <p:sp>
        <p:nvSpPr>
          <p:cNvPr id="4" name="Text 1"/>
          <p:cNvSpPr txBox="1"/>
          <p:nvPr/>
        </p:nvSpPr>
        <p:spPr>
          <a:xfrm>
            <a:off x="1097280" y="3657600"/>
            <a:ext cx="420624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מהיום עצמו / מהגזרה (אם יש) – או תמונה של הצוות לפני</a:t>
            </a:r>
            <a:endParaRPr lang="he-IL" sz="1200" dirty="0"/>
          </a:p>
        </p:txBody>
      </p:sp>
      <p:pic>
        <p:nvPicPr>
          <p:cNvPr id="5" name="Image 1" descr="preencoded.png">    </p:cNvPr>
          <p:cNvPicPr>
            <a:picLocks noChangeAspect="1"/>
          </p:cNvPicPr>
          <p:nvPr/>
        </p:nvPicPr>
        <p:blipFill>
          <a:blip r:embed="rId2"/>
          <a:stretch>
            <a:fillRect/>
          </a:stretch>
        </p:blipFill>
        <p:spPr>
          <a:xfrm>
            <a:off x="10545775" y="1188720"/>
            <a:ext cx="731520" cy="731520"/>
          </a:xfrm>
          <a:prstGeom prst="rect">
            <a:avLst/>
          </a:prstGeom>
        </p:spPr>
      </p:pic>
      <p:sp>
        <p:nvSpPr>
          <p:cNvPr id="6" name="Text 2"/>
          <p:cNvSpPr txBox="1"/>
          <p:nvPr/>
        </p:nvSpPr>
        <p:spPr>
          <a:xfrm>
            <a:off x="6035040" y="2194560"/>
            <a:ext cx="5333695" cy="1097280"/>
          </a:xfrm>
          <a:prstGeom prst="rect">
            <a:avLst/>
          </a:prstGeom>
          <a:noFill/>
          <a:ln/>
        </p:spPr>
        <p:txBody>
          <a:bodyPr wrap="square" lIns="0" tIns="0" rIns="0" bIns="0" rtlCol="0" anchor="t"/>
          <a:lstStyle/>
          <a:p>
            <a:pPr rtl="1" algn="r" indent="0" marL="0">
              <a:buNone/>
            </a:pPr>
            <a:r>
              <a:rPr lang="he-IL" altLang="en-US" sz="3200" b="1" dirty="0">
                <a:solidFill>
                  <a:srgbClr val="FFFFFF"/>
                </a:solidFill>
                <a:latin typeface="Arial" pitchFamily="34" charset="0"/>
                <a:ea typeface="Arial" pitchFamily="34" charset="-122"/>
                <a:cs typeface="Arial" pitchFamily="34" charset="-120"/>
              </a:rPr>
              <a:t>״באותו רגע עוד לא הבנתי שאני פצוע.</a:t>
            </a:r>
            <a:endParaRPr lang="he-IL" sz="3200" dirty="0"/>
          </a:p>
        </p:txBody>
      </p:sp>
      <p:sp>
        <p:nvSpPr>
          <p:cNvPr id="7" name="Text 3"/>
          <p:cNvSpPr txBox="1"/>
          <p:nvPr/>
        </p:nvSpPr>
        <p:spPr>
          <a:xfrm>
            <a:off x="6035040" y="3383280"/>
            <a:ext cx="5333695" cy="914400"/>
          </a:xfrm>
          <a:prstGeom prst="rect">
            <a:avLst/>
          </a:prstGeom>
          <a:noFill/>
          <a:ln/>
        </p:spPr>
        <p:txBody>
          <a:bodyPr wrap="square" lIns="0" tIns="0" rIns="0" bIns="0" rtlCol="0" anchor="t"/>
          <a:lstStyle/>
          <a:p>
            <a:pPr rtl="1" algn="r" indent="0" marL="0">
              <a:buNone/>
            </a:pPr>
            <a:r>
              <a:rPr lang="he-IL" altLang="en-US" sz="3200" b="1" dirty="0">
                <a:solidFill>
                  <a:srgbClr val="D9B78C"/>
                </a:solidFill>
                <a:latin typeface="Arial" pitchFamily="34" charset="0"/>
                <a:ea typeface="Arial" pitchFamily="34" charset="-122"/>
                <a:cs typeface="Arial" pitchFamily="34" charset="-120"/>
              </a:rPr>
              <a:t>הדבר היחיד שעבר לי בראש היה…״</a:t>
            </a:r>
            <a:endParaRPr lang="he-IL" sz="3200" dirty="0"/>
          </a:p>
        </p:txBody>
      </p:sp>
      <p:sp>
        <p:nvSpPr>
          <p:cNvPr id="8" name="Text 4"/>
          <p:cNvSpPr txBox="1"/>
          <p:nvPr/>
        </p:nvSpPr>
        <p:spPr>
          <a:xfrm>
            <a:off x="6035040" y="4572000"/>
            <a:ext cx="5333695" cy="91440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״תמיד אמרו לנו: מי שלא מתפקד – מקבל פוסט־טראומה.״</a:t>
            </a:r>
            <a:endParaRPr lang="he-IL" sz="2000" dirty="0"/>
          </a:p>
        </p:txBody>
      </p:sp>
      <p:sp>
        <p:nvSpPr>
          <p:cNvPr id="9"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14</a:t>
            </a:r>
            <a:endParaRPr lang="he-IL"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9B78C"/>
        </a:solidFill>
      </p:bgPr>
    </p:bg>
    <p:spTree>
      <p:nvGrpSpPr>
        <p:cNvPr id="1" name=""/>
        <p:cNvGrpSpPr/>
        <p:nvPr/>
      </p:nvGrpSpPr>
      <p:grpSpPr>
        <a:xfrm>
          <a:off x="0" y="0"/>
          <a:ext cx="0" cy="0"/>
          <a:chOff x="0" y="0"/>
          <a:chExt cx="0" cy="0"/>
        </a:xfrm>
      </p:grpSpPr>
      <p:sp>
        <p:nvSpPr>
          <p:cNvPr id="2" name="Text 0"/>
          <p:cNvSpPr txBox="1"/>
          <p:nvPr/>
        </p:nvSpPr>
        <p:spPr>
          <a:xfrm>
            <a:off x="914400" y="1737360"/>
            <a:ext cx="10362895" cy="1097280"/>
          </a:xfrm>
          <a:prstGeom prst="rect">
            <a:avLst/>
          </a:prstGeom>
          <a:noFill/>
          <a:ln/>
        </p:spPr>
        <p:txBody>
          <a:bodyPr wrap="square" lIns="0" tIns="0" rIns="0" bIns="0" rtlCol="0" anchor="t"/>
          <a:lstStyle/>
          <a:p>
            <a:pPr rtl="1" algn="ctr" indent="0" marL="0">
              <a:buNone/>
            </a:pPr>
            <a:r>
              <a:rPr lang="he-IL" altLang="en-US" sz="6000" b="1" dirty="0">
                <a:solidFill>
                  <a:srgbClr val="0E1116"/>
                </a:solidFill>
                <a:latin typeface="Arial" pitchFamily="34" charset="0"/>
                <a:ea typeface="Arial" pitchFamily="34" charset="-122"/>
                <a:cs typeface="Arial" pitchFamily="34" charset="-120"/>
              </a:rPr>
              <a:t>האמת?</a:t>
            </a:r>
            <a:endParaRPr lang="he-IL" sz="6000" dirty="0"/>
          </a:p>
        </p:txBody>
      </p:sp>
      <p:sp>
        <p:nvSpPr>
          <p:cNvPr id="3" name="Text 1"/>
          <p:cNvSpPr txBox="1"/>
          <p:nvPr/>
        </p:nvSpPr>
        <p:spPr>
          <a:xfrm>
            <a:off x="914400" y="2926080"/>
            <a:ext cx="10362895" cy="1280160"/>
          </a:xfrm>
          <a:prstGeom prst="rect">
            <a:avLst/>
          </a:prstGeom>
          <a:noFill/>
          <a:ln/>
        </p:spPr>
        <p:txBody>
          <a:bodyPr wrap="square" lIns="0" tIns="0" rIns="0" bIns="0" rtlCol="0" anchor="t"/>
          <a:lstStyle/>
          <a:p>
            <a:pPr rtl="1" algn="ctr" indent="0" marL="0">
              <a:buNone/>
            </a:pPr>
            <a:r>
              <a:rPr lang="he-IL" altLang="en-US" sz="6400" b="1" dirty="0">
                <a:solidFill>
                  <a:srgbClr val="0E1116"/>
                </a:solidFill>
                <a:latin typeface="Arial" pitchFamily="34" charset="0"/>
                <a:ea typeface="Arial" pitchFamily="34" charset="-122"/>
                <a:cs typeface="Arial" pitchFamily="34" charset="-120"/>
              </a:rPr>
              <a:t>הקרב היה החלק הקל.</a:t>
            </a:r>
            <a:endParaRPr lang="he-IL" sz="6400" dirty="0"/>
          </a:p>
        </p:txBody>
      </p:sp>
      <p:sp>
        <p:nvSpPr>
          <p:cNvPr id="4" name="Text 2"/>
          <p:cNvSpPr txBox="1"/>
          <p:nvPr/>
        </p:nvSpPr>
        <p:spPr>
          <a:xfrm>
            <a:off x="914400" y="4480560"/>
            <a:ext cx="10362895" cy="548640"/>
          </a:xfrm>
          <a:prstGeom prst="rect">
            <a:avLst/>
          </a:prstGeom>
          <a:noFill/>
          <a:ln/>
        </p:spPr>
        <p:txBody>
          <a:bodyPr wrap="square" lIns="0" tIns="0" rIns="0" bIns="0" rtlCol="0" anchor="t"/>
          <a:lstStyle/>
          <a:p>
            <a:pPr rtl="1" algn="ctr" indent="0" marL="0">
              <a:buNone/>
            </a:pPr>
            <a:r>
              <a:rPr lang="he-IL" altLang="en-US" sz="1800" dirty="0">
                <a:solidFill>
                  <a:srgbClr val="5A4A30"/>
                </a:solidFill>
                <a:latin typeface="Arial" pitchFamily="34" charset="0"/>
                <a:ea typeface="Arial" pitchFamily="34" charset="-122"/>
                <a:cs typeface="Arial" pitchFamily="34" charset="-120"/>
              </a:rPr>
              <a:t>הקהל מצפה שהשיא היה 7 באוקטובר. הוא לא.</a:t>
            </a:r>
            <a:endParaRPr lang="he-IL"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04</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ואז הכול נגמר</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מה שמגיע אחרי הקרב.</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16</a:t>
            </a:r>
            <a:endParaRPr lang="he-IL"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8938031" y="1463040"/>
            <a:ext cx="2430704" cy="3291840"/>
          </a:xfrm>
          <a:prstGeom prst="roundRect">
            <a:avLst>
              <a:gd name="adj" fmla="val 4514"/>
            </a:avLst>
          </a:prstGeom>
          <a:solidFill>
            <a:srgbClr val="171C24"/>
          </a:solidFill>
          <a:ln w="9525">
            <a:solidFill>
              <a:srgbClr val="2A313C"/>
            </a:solidFill>
            <a:prstDash val="solid"/>
          </a:ln>
        </p:spPr>
      </p:sp>
      <p:sp>
        <p:nvSpPr>
          <p:cNvPr id="3" name="Text 1"/>
          <p:cNvSpPr txBox="1"/>
          <p:nvPr/>
        </p:nvSpPr>
        <p:spPr>
          <a:xfrm>
            <a:off x="9120911"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19</a:t>
            </a:r>
            <a:endParaRPr lang="he-IL" sz="6400" dirty="0"/>
          </a:p>
        </p:txBody>
      </p:sp>
      <p:sp>
        <p:nvSpPr>
          <p:cNvPr id="4" name="Text 2"/>
          <p:cNvSpPr txBox="1"/>
          <p:nvPr/>
        </p:nvSpPr>
        <p:spPr>
          <a:xfrm>
            <a:off x="9212351"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חברים ויותר שאיבדתי באותו יום</a:t>
            </a:r>
            <a:endParaRPr lang="he-IL" sz="1600" dirty="0"/>
          </a:p>
        </p:txBody>
      </p:sp>
      <p:sp>
        <p:nvSpPr>
          <p:cNvPr id="5" name="Shape 3"/>
          <p:cNvSpPr/>
          <p:nvPr/>
        </p:nvSpPr>
        <p:spPr>
          <a:xfrm>
            <a:off x="6233008" y="1463040"/>
            <a:ext cx="2430704" cy="3291840"/>
          </a:xfrm>
          <a:prstGeom prst="roundRect">
            <a:avLst>
              <a:gd name="adj" fmla="val 4514"/>
            </a:avLst>
          </a:prstGeom>
          <a:solidFill>
            <a:srgbClr val="171C24"/>
          </a:solidFill>
          <a:ln w="9525">
            <a:solidFill>
              <a:srgbClr val="2A313C"/>
            </a:solidFill>
            <a:prstDash val="solid"/>
          </a:ln>
        </p:spPr>
      </p:sp>
      <p:sp>
        <p:nvSpPr>
          <p:cNvPr id="6" name="Text 4"/>
          <p:cNvSpPr txBox="1"/>
          <p:nvPr/>
        </p:nvSpPr>
        <p:spPr>
          <a:xfrm>
            <a:off x="6415888"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10</a:t>
            </a:r>
            <a:endParaRPr lang="he-IL" sz="6400" dirty="0"/>
          </a:p>
        </p:txBody>
      </p:sp>
      <p:sp>
        <p:nvSpPr>
          <p:cNvPr id="7" name="Text 5"/>
          <p:cNvSpPr txBox="1"/>
          <p:nvPr/>
        </p:nvSpPr>
        <p:spPr>
          <a:xfrm>
            <a:off x="6507328"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חברים נוספים, כמעט, במהלך המלחמה</a:t>
            </a:r>
            <a:endParaRPr lang="he-IL" sz="1600" dirty="0"/>
          </a:p>
        </p:txBody>
      </p:sp>
      <p:sp>
        <p:nvSpPr>
          <p:cNvPr id="8" name="Shape 6"/>
          <p:cNvSpPr/>
          <p:nvPr/>
        </p:nvSpPr>
        <p:spPr>
          <a:xfrm>
            <a:off x="3527984" y="1463040"/>
            <a:ext cx="2430704" cy="3291840"/>
          </a:xfrm>
          <a:prstGeom prst="roundRect">
            <a:avLst>
              <a:gd name="adj" fmla="val 4514"/>
            </a:avLst>
          </a:prstGeom>
          <a:solidFill>
            <a:srgbClr val="171C24"/>
          </a:solidFill>
          <a:ln w="9525">
            <a:solidFill>
              <a:srgbClr val="2A313C"/>
            </a:solidFill>
            <a:prstDash val="solid"/>
          </a:ln>
        </p:spPr>
      </p:sp>
      <p:sp>
        <p:nvSpPr>
          <p:cNvPr id="9" name="Text 7"/>
          <p:cNvSpPr txBox="1"/>
          <p:nvPr/>
        </p:nvSpPr>
        <p:spPr>
          <a:xfrm>
            <a:off x="3710864"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3</a:t>
            </a:r>
            <a:endParaRPr lang="he-IL" sz="6400" dirty="0"/>
          </a:p>
        </p:txBody>
      </p:sp>
      <p:sp>
        <p:nvSpPr>
          <p:cNvPr id="10" name="Text 8"/>
          <p:cNvSpPr txBox="1"/>
          <p:nvPr/>
        </p:nvSpPr>
        <p:spPr>
          <a:xfrm>
            <a:off x="3802304"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חודשי אשפוז בתל השומר</a:t>
            </a:r>
            <a:endParaRPr lang="he-IL" sz="1600" dirty="0"/>
          </a:p>
        </p:txBody>
      </p:sp>
      <p:sp>
        <p:nvSpPr>
          <p:cNvPr id="11" name="Shape 9"/>
          <p:cNvSpPr/>
          <p:nvPr/>
        </p:nvSpPr>
        <p:spPr>
          <a:xfrm>
            <a:off x="822960" y="1463040"/>
            <a:ext cx="2430704" cy="3291840"/>
          </a:xfrm>
          <a:prstGeom prst="roundRect">
            <a:avLst>
              <a:gd name="adj" fmla="val 4514"/>
            </a:avLst>
          </a:prstGeom>
          <a:solidFill>
            <a:srgbClr val="171C24"/>
          </a:solidFill>
          <a:ln w="9525">
            <a:solidFill>
              <a:srgbClr val="2A313C"/>
            </a:solidFill>
            <a:prstDash val="solid"/>
          </a:ln>
        </p:spPr>
      </p:sp>
      <p:sp>
        <p:nvSpPr>
          <p:cNvPr id="12" name="Text 10"/>
          <p:cNvSpPr txBox="1"/>
          <p:nvPr/>
        </p:nvSpPr>
        <p:spPr>
          <a:xfrm>
            <a:off x="1005840" y="1828800"/>
            <a:ext cx="2064944" cy="1463040"/>
          </a:xfrm>
          <a:prstGeom prst="rect">
            <a:avLst/>
          </a:prstGeom>
          <a:noFill/>
          <a:ln/>
        </p:spPr>
        <p:txBody>
          <a:bodyPr wrap="square" lIns="0" tIns="0" rIns="0" bIns="0" rtlCol="0" anchor="ctr"/>
          <a:lstStyle/>
          <a:p>
            <a:pPr rtl="1" algn="ctr" indent="0" marL="0">
              <a:buNone/>
            </a:pPr>
            <a:r>
              <a:rPr lang="he-IL" altLang="en-US" sz="6400" b="1" dirty="0">
                <a:solidFill>
                  <a:srgbClr val="D9B78C"/>
                </a:solidFill>
                <a:latin typeface="Arial" pitchFamily="34" charset="0"/>
                <a:ea typeface="Arial" pitchFamily="34" charset="-122"/>
                <a:cs typeface="Arial" pitchFamily="34" charset="-120"/>
              </a:rPr>
              <a:t>2</a:t>
            </a:r>
            <a:endParaRPr lang="he-IL" sz="6400" dirty="0"/>
          </a:p>
        </p:txBody>
      </p:sp>
      <p:sp>
        <p:nvSpPr>
          <p:cNvPr id="13" name="Text 11"/>
          <p:cNvSpPr txBox="1"/>
          <p:nvPr/>
        </p:nvSpPr>
        <p:spPr>
          <a:xfrm>
            <a:off x="1097280" y="3383280"/>
            <a:ext cx="1882064" cy="1097280"/>
          </a:xfrm>
          <a:prstGeom prst="rect">
            <a:avLst/>
          </a:prstGeom>
          <a:noFill/>
          <a:ln/>
        </p:spPr>
        <p:txBody>
          <a:bodyPr wrap="square" lIns="0" tIns="0" rIns="0" bIns="0" rtlCol="0" anchor="t"/>
          <a:lstStyle/>
          <a:p>
            <a:pPr rtl="1" algn="ctr" indent="0" marL="0">
              <a:buNone/>
            </a:pPr>
            <a:r>
              <a:rPr lang="he-IL" altLang="en-US" sz="1600" dirty="0">
                <a:solidFill>
                  <a:srgbClr val="FFFFFF"/>
                </a:solidFill>
                <a:latin typeface="Arial" pitchFamily="34" charset="0"/>
                <a:ea typeface="Arial" pitchFamily="34" charset="-122"/>
                <a:cs typeface="Arial" pitchFamily="34" charset="-120"/>
              </a:rPr>
              <a:t>פציעות: יד ועין</a:t>
            </a:r>
            <a:endParaRPr lang="he-IL" sz="1600" dirty="0"/>
          </a:p>
        </p:txBody>
      </p:sp>
      <p:sp>
        <p:nvSpPr>
          <p:cNvPr id="14" name="Text 12"/>
          <p:cNvSpPr txBox="1"/>
          <p:nvPr/>
        </p:nvSpPr>
        <p:spPr>
          <a:xfrm>
            <a:off x="822960" y="5120640"/>
            <a:ext cx="10545775" cy="822960"/>
          </a:xfrm>
          <a:prstGeom prst="rect">
            <a:avLst/>
          </a:prstGeom>
          <a:noFill/>
          <a:ln/>
        </p:spPr>
        <p:txBody>
          <a:bodyPr wrap="square" lIns="0" tIns="0" rIns="0" bIns="0" rtlCol="0" anchor="t"/>
          <a:lstStyle/>
          <a:p>
            <a:pPr rtl="1" algn="ctr" indent="0" marL="0">
              <a:buNone/>
            </a:pPr>
            <a:r>
              <a:rPr lang="he-IL" altLang="en-US" sz="1800" dirty="0">
                <a:solidFill>
                  <a:srgbClr val="A7ADB8"/>
                </a:solidFill>
                <a:latin typeface="Arial" pitchFamily="34" charset="0"/>
                <a:ea typeface="Arial" pitchFamily="34" charset="-122"/>
                <a:cs typeface="Arial" pitchFamily="34" charset="-120"/>
              </a:rPr>
              <a:t>הדבר הכי קשה אחרי השביעי: לא הפציעה. האובדן. הדברים שהם לא יספיקו לעשות, והמשפחות השכולות.</a:t>
            </a:r>
            <a:endParaRPr lang="he-IL" sz="1800" dirty="0"/>
          </a:p>
        </p:txBody>
      </p:sp>
      <p:sp>
        <p:nvSpPr>
          <p:cNvPr id="15" name="Text 1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17</a:t>
            </a:r>
            <a:endParaRPr lang="he-IL"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מה שאף אחד לא מכין אותך אליו</a:t>
            </a:r>
            <a:endParaRPr lang="he-IL" sz="3600" dirty="0"/>
          </a:p>
        </p:txBody>
      </p:sp>
      <p:sp>
        <p:nvSpPr>
          <p:cNvPr id="3" name="Shape 1"/>
          <p:cNvSpPr/>
          <p:nvPr/>
        </p:nvSpPr>
        <p:spPr>
          <a:xfrm>
            <a:off x="822960" y="1645920"/>
            <a:ext cx="3291840" cy="4480560"/>
          </a:xfrm>
          <a:prstGeom prst="roundRect">
            <a:avLst>
              <a:gd name="adj" fmla="val 4167"/>
            </a:avLst>
          </a:prstGeom>
          <a:solidFill>
            <a:srgbClr val="ECE7DF"/>
          </a:solidFill>
          <a:ln w="15875">
            <a:solidFill>
              <a:srgbClr val="C9C2B6"/>
            </a:solidFill>
            <a:prstDash val="dash"/>
          </a:ln>
        </p:spPr>
      </p:sp>
      <p:pic>
        <p:nvPicPr>
          <p:cNvPr id="4" name="Image 0" descr="preencoded.png">    </p:cNvPr>
          <p:cNvPicPr>
            <a:picLocks noChangeAspect="1"/>
          </p:cNvPicPr>
          <p:nvPr/>
        </p:nvPicPr>
        <p:blipFill>
          <a:blip r:embed="rId1"/>
          <a:stretch>
            <a:fillRect/>
          </a:stretch>
        </p:blipFill>
        <p:spPr>
          <a:xfrm>
            <a:off x="2194560" y="3291840"/>
            <a:ext cx="548640" cy="548640"/>
          </a:xfrm>
          <a:prstGeom prst="rect">
            <a:avLst/>
          </a:prstGeom>
        </p:spPr>
      </p:pic>
      <p:sp>
        <p:nvSpPr>
          <p:cNvPr id="5" name="Text 2"/>
          <p:cNvSpPr txBox="1"/>
          <p:nvPr/>
        </p:nvSpPr>
        <p:spPr>
          <a:xfrm>
            <a:off x="1097280" y="4114800"/>
            <a:ext cx="2743200" cy="64008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תמונה: מהשיקום בתל השומר</a:t>
            </a:r>
            <a:endParaRPr lang="he-IL" sz="1200" dirty="0"/>
          </a:p>
        </p:txBody>
      </p:sp>
      <p:sp>
        <p:nvSpPr>
          <p:cNvPr id="6" name="Shape 3"/>
          <p:cNvSpPr/>
          <p:nvPr/>
        </p:nvSpPr>
        <p:spPr>
          <a:xfrm>
            <a:off x="10728655" y="1645920"/>
            <a:ext cx="640080" cy="640080"/>
          </a:xfrm>
          <a:prstGeom prst="ellipse">
            <a:avLst/>
          </a:prstGeom>
          <a:solidFill>
            <a:srgbClr val="D9B78C"/>
          </a:solidFill>
          <a:ln w="12700">
            <a:solidFill>
              <a:srgbClr val="D9B78C"/>
            </a:solidFill>
            <a:prstDash val="solid"/>
          </a:ln>
        </p:spPr>
      </p:sp>
      <p:pic>
        <p:nvPicPr>
          <p:cNvPr id="7" name="Image 1" descr="preencoded.png">    </p:cNvPr>
          <p:cNvPicPr>
            <a:picLocks noChangeAspect="1"/>
          </p:cNvPicPr>
          <p:nvPr/>
        </p:nvPicPr>
        <p:blipFill>
          <a:blip r:embed="rId2"/>
          <a:stretch>
            <a:fillRect/>
          </a:stretch>
        </p:blipFill>
        <p:spPr>
          <a:xfrm>
            <a:off x="10884103" y="1801368"/>
            <a:ext cx="329184" cy="329184"/>
          </a:xfrm>
          <a:prstGeom prst="rect">
            <a:avLst/>
          </a:prstGeom>
        </p:spPr>
      </p:pic>
      <p:sp>
        <p:nvSpPr>
          <p:cNvPr id="8" name="Text 4"/>
          <p:cNvSpPr txBox="1"/>
          <p:nvPr/>
        </p:nvSpPr>
        <p:spPr>
          <a:xfrm>
            <a:off x="4480560" y="1645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הפציעה</a:t>
            </a:r>
            <a:endParaRPr lang="he-IL" sz="1900" dirty="0"/>
          </a:p>
        </p:txBody>
      </p:sp>
      <p:sp>
        <p:nvSpPr>
          <p:cNvPr id="9" name="Text 5"/>
          <p:cNvSpPr txBox="1"/>
          <p:nvPr/>
        </p:nvSpPr>
        <p:spPr>
          <a:xfrm>
            <a:off x="4480560" y="2029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נפצעתי ביד מהחוסם עורקים, ובעין מרסיס.</a:t>
            </a:r>
            <a:endParaRPr lang="he-IL" sz="1350" dirty="0"/>
          </a:p>
        </p:txBody>
      </p:sp>
      <p:sp>
        <p:nvSpPr>
          <p:cNvPr id="10" name="Shape 6"/>
          <p:cNvSpPr/>
          <p:nvPr/>
        </p:nvSpPr>
        <p:spPr>
          <a:xfrm>
            <a:off x="10728655" y="2788920"/>
            <a:ext cx="640080" cy="640080"/>
          </a:xfrm>
          <a:prstGeom prst="ellipse">
            <a:avLst/>
          </a:prstGeom>
          <a:solidFill>
            <a:srgbClr val="D9B78C"/>
          </a:solidFill>
          <a:ln w="12700">
            <a:solidFill>
              <a:srgbClr val="D9B78C"/>
            </a:solidFill>
            <a:prstDash val="solid"/>
          </a:ln>
        </p:spPr>
      </p:sp>
      <p:pic>
        <p:nvPicPr>
          <p:cNvPr id="11" name="Image 2" descr="preencoded.png">    </p:cNvPr>
          <p:cNvPicPr>
            <a:picLocks noChangeAspect="1"/>
          </p:cNvPicPr>
          <p:nvPr/>
        </p:nvPicPr>
        <p:blipFill>
          <a:blip r:embed="rId3"/>
          <a:stretch>
            <a:fillRect/>
          </a:stretch>
        </p:blipFill>
        <p:spPr>
          <a:xfrm>
            <a:off x="10884103" y="2944368"/>
            <a:ext cx="329184" cy="329184"/>
          </a:xfrm>
          <a:prstGeom prst="rect">
            <a:avLst/>
          </a:prstGeom>
        </p:spPr>
      </p:pic>
      <p:sp>
        <p:nvSpPr>
          <p:cNvPr id="12" name="Text 7"/>
          <p:cNvSpPr txBox="1"/>
          <p:nvPr/>
        </p:nvSpPr>
        <p:spPr>
          <a:xfrm>
            <a:off x="4480560" y="2788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השיקום</a:t>
            </a:r>
            <a:endParaRPr lang="he-IL" sz="1900" dirty="0"/>
          </a:p>
        </p:txBody>
      </p:sp>
      <p:sp>
        <p:nvSpPr>
          <p:cNvPr id="13" name="Text 8"/>
          <p:cNvSpPr txBox="1"/>
          <p:nvPr/>
        </p:nvSpPr>
        <p:spPr>
          <a:xfrm>
            <a:off x="4480560" y="3172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ארוך ומתיש. הייתי לבד רוב הזמן. שלושה חודשים בתל השומר – בלי משככי כאבים.</a:t>
            </a:r>
            <a:endParaRPr lang="he-IL" sz="1350" dirty="0"/>
          </a:p>
        </p:txBody>
      </p:sp>
      <p:sp>
        <p:nvSpPr>
          <p:cNvPr id="14" name="Shape 9"/>
          <p:cNvSpPr/>
          <p:nvPr/>
        </p:nvSpPr>
        <p:spPr>
          <a:xfrm>
            <a:off x="10728655" y="3931920"/>
            <a:ext cx="640080" cy="640080"/>
          </a:xfrm>
          <a:prstGeom prst="ellipse">
            <a:avLst/>
          </a:prstGeom>
          <a:solidFill>
            <a:srgbClr val="D9B78C"/>
          </a:solidFill>
          <a:ln w="12700">
            <a:solidFill>
              <a:srgbClr val="D9B78C"/>
            </a:solidFill>
            <a:prstDash val="solid"/>
          </a:ln>
        </p:spPr>
      </p:sp>
      <p:pic>
        <p:nvPicPr>
          <p:cNvPr id="15" name="Image 3" descr="preencoded.png">    </p:cNvPr>
          <p:cNvPicPr>
            <a:picLocks noChangeAspect="1"/>
          </p:cNvPicPr>
          <p:nvPr/>
        </p:nvPicPr>
        <p:blipFill>
          <a:blip r:embed="rId4"/>
          <a:stretch>
            <a:fillRect/>
          </a:stretch>
        </p:blipFill>
        <p:spPr>
          <a:xfrm>
            <a:off x="10884103" y="4087368"/>
            <a:ext cx="329184" cy="329184"/>
          </a:xfrm>
          <a:prstGeom prst="rect">
            <a:avLst/>
          </a:prstGeom>
        </p:spPr>
      </p:pic>
      <p:sp>
        <p:nvSpPr>
          <p:cNvPr id="16" name="Text 10"/>
          <p:cNvSpPr txBox="1"/>
          <p:nvPr/>
        </p:nvSpPr>
        <p:spPr>
          <a:xfrm>
            <a:off x="4480560" y="3931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האובדן</a:t>
            </a:r>
            <a:endParaRPr lang="he-IL" sz="1900" dirty="0"/>
          </a:p>
        </p:txBody>
      </p:sp>
      <p:sp>
        <p:nvSpPr>
          <p:cNvPr id="17" name="Text 11"/>
          <p:cNvSpPr txBox="1"/>
          <p:nvPr/>
        </p:nvSpPr>
        <p:spPr>
          <a:xfrm>
            <a:off x="4480560" y="4315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מעל 19 חברים באותו יום, ועוד כמעט עשרה במהלך המלחמה.</a:t>
            </a:r>
            <a:endParaRPr lang="he-IL" sz="1350" dirty="0"/>
          </a:p>
        </p:txBody>
      </p:sp>
      <p:sp>
        <p:nvSpPr>
          <p:cNvPr id="18" name="Shape 12"/>
          <p:cNvSpPr/>
          <p:nvPr/>
        </p:nvSpPr>
        <p:spPr>
          <a:xfrm>
            <a:off x="10728655" y="5074920"/>
            <a:ext cx="640080" cy="640080"/>
          </a:xfrm>
          <a:prstGeom prst="ellipse">
            <a:avLst/>
          </a:prstGeom>
          <a:solidFill>
            <a:srgbClr val="D9B78C"/>
          </a:solidFill>
          <a:ln w="12700">
            <a:solidFill>
              <a:srgbClr val="D9B78C"/>
            </a:solidFill>
            <a:prstDash val="solid"/>
          </a:ln>
        </p:spPr>
      </p:sp>
      <p:pic>
        <p:nvPicPr>
          <p:cNvPr id="19" name="Image 4" descr="preencoded.png">    </p:cNvPr>
          <p:cNvPicPr>
            <a:picLocks noChangeAspect="1"/>
          </p:cNvPicPr>
          <p:nvPr/>
        </p:nvPicPr>
        <p:blipFill>
          <a:blip r:embed="rId5"/>
          <a:stretch>
            <a:fillRect/>
          </a:stretch>
        </p:blipFill>
        <p:spPr>
          <a:xfrm>
            <a:off x="10884103" y="5230368"/>
            <a:ext cx="329184" cy="329184"/>
          </a:xfrm>
          <a:prstGeom prst="rect">
            <a:avLst/>
          </a:prstGeom>
        </p:spPr>
      </p:pic>
      <p:sp>
        <p:nvSpPr>
          <p:cNvPr id="20" name="Text 13"/>
          <p:cNvSpPr txBox="1"/>
          <p:nvPr/>
        </p:nvSpPr>
        <p:spPr>
          <a:xfrm>
            <a:off x="4480560" y="5074920"/>
            <a:ext cx="6019495" cy="365760"/>
          </a:xfrm>
          <a:prstGeom prst="rect">
            <a:avLst/>
          </a:prstGeom>
          <a:noFill/>
          <a:ln/>
        </p:spPr>
        <p:txBody>
          <a:bodyPr wrap="square" lIns="0" tIns="0" rIns="0" bIns="0" rtlCol="0" anchor="t"/>
          <a:lstStyle/>
          <a:p>
            <a:pPr rtl="1" algn="r" indent="0" marL="0">
              <a:buNone/>
            </a:pPr>
            <a:r>
              <a:rPr lang="he-IL" altLang="en-US" sz="1900" b="1" dirty="0">
                <a:solidFill>
                  <a:srgbClr val="1C1F26"/>
                </a:solidFill>
                <a:latin typeface="Arial" pitchFamily="34" charset="0"/>
                <a:ea typeface="Arial" pitchFamily="34" charset="-122"/>
                <a:cs typeface="Arial" pitchFamily="34" charset="-120"/>
              </a:rPr>
              <a:t>החיים שאחרי</a:t>
            </a:r>
            <a:endParaRPr lang="he-IL" sz="1900" dirty="0"/>
          </a:p>
        </p:txBody>
      </p:sp>
      <p:sp>
        <p:nvSpPr>
          <p:cNvPr id="21" name="Text 14"/>
          <p:cNvSpPr txBox="1"/>
          <p:nvPr/>
        </p:nvSpPr>
        <p:spPr>
          <a:xfrm>
            <a:off x="4480560" y="5458968"/>
            <a:ext cx="6019495" cy="73152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לוחם ← פצוע ← אזרח, בתוך זמן קצר. מבלבל. לא סמכתי על אנשים, התרחקתי מחברים, ברחתי ממקומות רועשים והומים.</a:t>
            </a:r>
            <a:endParaRPr lang="he-IL" sz="1350" dirty="0"/>
          </a:p>
        </p:txBody>
      </p:sp>
      <p:sp>
        <p:nvSpPr>
          <p:cNvPr id="22" name="Text 1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18</a:t>
            </a:r>
            <a:endParaRPr lang="he-IL"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822960" y="822960"/>
            <a:ext cx="4754880" cy="5212080"/>
          </a:xfrm>
          <a:prstGeom prst="roundRect">
            <a:avLst>
              <a:gd name="adj" fmla="val 2885"/>
            </a:avLst>
          </a:prstGeom>
          <a:solidFill>
            <a:srgbClr val="171C24"/>
          </a:solidFill>
          <a:ln w="15875">
            <a:solidFill>
              <a:srgbClr val="3A4150"/>
            </a:solidFill>
            <a:prstDash val="dash"/>
          </a:ln>
        </p:spPr>
      </p:sp>
      <p:pic>
        <p:nvPicPr>
          <p:cNvPr id="3" name="Image 0" descr="preencoded.png">    </p:cNvPr>
          <p:cNvPicPr>
            <a:picLocks noChangeAspect="1"/>
          </p:cNvPicPr>
          <p:nvPr/>
        </p:nvPicPr>
        <p:blipFill>
          <a:blip r:embed="rId1"/>
          <a:stretch>
            <a:fillRect/>
          </a:stretch>
        </p:blipFill>
        <p:spPr>
          <a:xfrm>
            <a:off x="2926080" y="2834640"/>
            <a:ext cx="548640" cy="548640"/>
          </a:xfrm>
          <a:prstGeom prst="rect">
            <a:avLst/>
          </a:prstGeom>
        </p:spPr>
      </p:pic>
      <p:sp>
        <p:nvSpPr>
          <p:cNvPr id="4" name="Text 1"/>
          <p:cNvSpPr txBox="1"/>
          <p:nvPr/>
        </p:nvSpPr>
        <p:spPr>
          <a:xfrm>
            <a:off x="1097280" y="3657600"/>
            <a:ext cx="4206240" cy="640080"/>
          </a:xfrm>
          <a:prstGeom prst="rect">
            <a:avLst/>
          </a:prstGeom>
          <a:noFill/>
          <a:ln/>
        </p:spPr>
        <p:txBody>
          <a:bodyPr wrap="square" lIns="0" tIns="0" rIns="0" bIns="0" rtlCol="0" anchor="t"/>
          <a:lstStyle/>
          <a:p>
            <a:pPr rtl="1" algn="ctr" indent="0" marL="0">
              <a:buNone/>
            </a:pPr>
            <a:r>
              <a:rPr lang="he-IL" altLang="en-US" sz="1200" dirty="0">
                <a:solidFill>
                  <a:srgbClr val="A7ADB8"/>
                </a:solidFill>
                <a:latin typeface="Arial" pitchFamily="34" charset="0"/>
                <a:ea typeface="Arial" pitchFamily="34" charset="-122"/>
                <a:cs typeface="Arial" pitchFamily="34" charset="-120"/>
              </a:rPr>
              <a:t>תמונה: מהריטריט בפנמה – האנשים שפגשת שם</a:t>
            </a:r>
            <a:endParaRPr lang="he-IL" sz="1200" dirty="0"/>
          </a:p>
        </p:txBody>
      </p:sp>
      <p:sp>
        <p:nvSpPr>
          <p:cNvPr id="5" name="Text 2"/>
          <p:cNvSpPr txBox="1"/>
          <p:nvPr/>
        </p:nvSpPr>
        <p:spPr>
          <a:xfrm>
            <a:off x="6035040" y="1188720"/>
            <a:ext cx="5333695" cy="1005840"/>
          </a:xfrm>
          <a:prstGeom prst="rect">
            <a:avLst/>
          </a:prstGeom>
          <a:noFill/>
          <a:ln/>
        </p:spPr>
        <p:txBody>
          <a:bodyPr wrap="square" lIns="0" tIns="0" rIns="0" bIns="0" rtlCol="0" anchor="t"/>
          <a:lstStyle/>
          <a:p>
            <a:pPr rtl="1" algn="r" indent="0" marL="0">
              <a:buNone/>
            </a:pPr>
            <a:r>
              <a:rPr lang="he-IL" altLang="en-US" sz="6000" b="1" dirty="0">
                <a:solidFill>
                  <a:srgbClr val="D9B78C"/>
                </a:solidFill>
                <a:latin typeface="Arial" pitchFamily="34" charset="0"/>
                <a:ea typeface="Arial" pitchFamily="34" charset="-122"/>
                <a:cs typeface="Arial" pitchFamily="34" charset="-120"/>
              </a:rPr>
              <a:t>פנמה.</a:t>
            </a:r>
            <a:endParaRPr lang="he-IL" sz="6000" dirty="0"/>
          </a:p>
        </p:txBody>
      </p:sp>
      <p:sp>
        <p:nvSpPr>
          <p:cNvPr id="6" name="Text 3"/>
          <p:cNvSpPr txBox="1"/>
          <p:nvPr/>
        </p:nvSpPr>
        <p:spPr>
          <a:xfrm>
            <a:off x="6035040" y="2377440"/>
            <a:ext cx="5333695" cy="1097280"/>
          </a:xfrm>
          <a:prstGeom prst="rect">
            <a:avLst/>
          </a:prstGeom>
          <a:noFill/>
          <a:ln/>
        </p:spPr>
        <p:txBody>
          <a:bodyPr wrap="square" lIns="0" tIns="0" rIns="0" bIns="0" rtlCol="0" anchor="t"/>
          <a:lstStyle/>
          <a:p>
            <a:pPr rtl="1" algn="r" indent="0" marL="0">
              <a:buNone/>
            </a:pPr>
            <a:r>
              <a:rPr lang="he-IL" altLang="en-US" sz="2600" b="1" dirty="0">
                <a:solidFill>
                  <a:srgbClr val="FFFFFF"/>
                </a:solidFill>
                <a:latin typeface="Arial" pitchFamily="34" charset="0"/>
                <a:ea typeface="Arial" pitchFamily="34" charset="-122"/>
                <a:cs typeface="Arial" pitchFamily="34" charset="-120"/>
              </a:rPr>
              <a:t>בריטריט, רחוק מהכול, פגשתי אנשים ממש טובים.</a:t>
            </a:r>
            <a:endParaRPr lang="he-IL" sz="2600" dirty="0"/>
          </a:p>
        </p:txBody>
      </p:sp>
      <p:sp>
        <p:nvSpPr>
          <p:cNvPr id="7" name="Text 4"/>
          <p:cNvSpPr txBox="1"/>
          <p:nvPr/>
        </p:nvSpPr>
        <p:spPr>
          <a:xfrm>
            <a:off x="6035040" y="3474720"/>
            <a:ext cx="5333695" cy="731520"/>
          </a:xfrm>
          <a:prstGeom prst="rect">
            <a:avLst/>
          </a:prstGeom>
          <a:noFill/>
          <a:ln/>
        </p:spPr>
        <p:txBody>
          <a:bodyPr wrap="square" lIns="0" tIns="0" rIns="0" bIns="0" rtlCol="0" anchor="t"/>
          <a:lstStyle/>
          <a:p>
            <a:pPr rtl="1" algn="r" indent="0" marL="0">
              <a:buNone/>
            </a:pPr>
            <a:r>
              <a:rPr lang="he-IL" altLang="en-US" sz="2600" b="1" dirty="0">
                <a:solidFill>
                  <a:srgbClr val="FFFFFF"/>
                </a:solidFill>
                <a:latin typeface="Arial" pitchFamily="34" charset="0"/>
                <a:ea typeface="Arial" pitchFamily="34" charset="-122"/>
                <a:cs typeface="Arial" pitchFamily="34" charset="-120"/>
              </a:rPr>
              <a:t>וראיתי שבאמת קיימים כאלה.</a:t>
            </a:r>
            <a:endParaRPr lang="he-IL" sz="2600" dirty="0"/>
          </a:p>
        </p:txBody>
      </p:sp>
      <p:sp>
        <p:nvSpPr>
          <p:cNvPr id="8" name="Text 5"/>
          <p:cNvSpPr txBox="1"/>
          <p:nvPr/>
        </p:nvSpPr>
        <p:spPr>
          <a:xfrm>
            <a:off x="6035040" y="4480560"/>
            <a:ext cx="5333695" cy="1463040"/>
          </a:xfrm>
          <a:prstGeom prst="rect">
            <a:avLst/>
          </a:prstGeom>
          <a:noFill/>
          <a:ln/>
        </p:spPr>
        <p:txBody>
          <a:bodyPr wrap="square" lIns="0" tIns="0" rIns="0" bIns="0" rtlCol="0" anchor="t"/>
          <a:lstStyle/>
          <a:p>
            <a:pPr rtl="1" algn="r" indent="0" marL="0">
              <a:buNone/>
            </a:pPr>
            <a:r>
              <a:rPr lang="he-IL" altLang="en-US" sz="1600" dirty="0">
                <a:solidFill>
                  <a:srgbClr val="A7ADB8"/>
                </a:solidFill>
                <a:latin typeface="Arial" pitchFamily="34" charset="0"/>
                <a:ea typeface="Arial" pitchFamily="34" charset="-122"/>
                <a:cs typeface="Arial" pitchFamily="34" charset="-120"/>
              </a:rPr>
              <a:t>משם התחלתי לחזור לאנשים. עברתי תהליך ארוך עד שהבנתי כמה משמעותיים הקשרים בחיים שלי. היום אני הרבה יותר פתוח.</a:t>
            </a:r>
            <a:endParaRPr lang="he-IL" sz="1600" dirty="0"/>
          </a:p>
        </p:txBody>
      </p:sp>
      <p:sp>
        <p:nvSpPr>
          <p:cNvPr id="9" name="Text 6"/>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19</a:t>
            </a:r>
            <a:endParaRPr lang="he-IL"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05</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3400" b="1" dirty="0">
                <a:solidFill>
                  <a:srgbClr val="FFFFFF"/>
                </a:solidFill>
                <a:latin typeface="Arial" pitchFamily="34" charset="0"/>
                <a:ea typeface="Arial" pitchFamily="34" charset="-122"/>
                <a:cs typeface="Arial" pitchFamily="34" charset="-120"/>
              </a:rPr>
              <a:t>מה עושים כשהחיים לא חוזרים להיות מה שהיו?</a:t>
            </a:r>
            <a:endParaRPr lang="he-IL" sz="3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שלושה עקרונות.</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20</a:t>
            </a:r>
            <a:endParaRPr lang="he-IL"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שלושה עקרונות</a:t>
            </a:r>
            <a:endParaRPr lang="he-IL" sz="3600" dirty="0"/>
          </a:p>
        </p:txBody>
      </p:sp>
      <p:sp>
        <p:nvSpPr>
          <p:cNvPr id="3" name="Shape 1"/>
          <p:cNvSpPr/>
          <p:nvPr/>
        </p:nvSpPr>
        <p:spPr>
          <a:xfrm>
            <a:off x="8097317" y="1645920"/>
            <a:ext cx="3271418" cy="4206240"/>
          </a:xfrm>
          <a:prstGeom prst="roundRect">
            <a:avLst>
              <a:gd name="adj" fmla="val 3913"/>
            </a:avLst>
          </a:prstGeom>
          <a:solidFill>
            <a:srgbClr val="FFFFFF"/>
          </a:solidFill>
          <a:ln w="9525">
            <a:solidFill>
              <a:srgbClr val="E2DCD2"/>
            </a:solidFill>
            <a:prstDash val="solid"/>
          </a:ln>
        </p:spPr>
      </p:sp>
      <p:sp>
        <p:nvSpPr>
          <p:cNvPr id="4" name="Shape 2"/>
          <p:cNvSpPr/>
          <p:nvPr/>
        </p:nvSpPr>
        <p:spPr>
          <a:xfrm>
            <a:off x="10180015" y="2011680"/>
            <a:ext cx="822960" cy="822960"/>
          </a:xfrm>
          <a:prstGeom prst="ellipse">
            <a:avLst/>
          </a:prstGeom>
          <a:solidFill>
            <a:srgbClr val="D9B78C"/>
          </a:solidFill>
          <a:ln w="12700">
            <a:solidFill>
              <a:srgbClr val="D9B78C"/>
            </a:solidFill>
            <a:prstDash val="solid"/>
          </a:ln>
        </p:spPr>
      </p:sp>
      <p:pic>
        <p:nvPicPr>
          <p:cNvPr id="5" name="Image 0" descr="preencoded.png">    </p:cNvPr>
          <p:cNvPicPr>
            <a:picLocks noChangeAspect="1"/>
          </p:cNvPicPr>
          <p:nvPr/>
        </p:nvPicPr>
        <p:blipFill>
          <a:blip r:embed="rId1"/>
          <a:stretch>
            <a:fillRect/>
          </a:stretch>
        </p:blipFill>
        <p:spPr>
          <a:xfrm>
            <a:off x="10381183" y="2212848"/>
            <a:ext cx="420624" cy="420624"/>
          </a:xfrm>
          <a:prstGeom prst="rect">
            <a:avLst/>
          </a:prstGeom>
        </p:spPr>
      </p:pic>
      <p:sp>
        <p:nvSpPr>
          <p:cNvPr id="6" name="Text 3"/>
          <p:cNvSpPr txBox="1"/>
          <p:nvPr/>
        </p:nvSpPr>
        <p:spPr>
          <a:xfrm>
            <a:off x="8463077" y="2103120"/>
            <a:ext cx="1534058" cy="640080"/>
          </a:xfrm>
          <a:prstGeom prst="rect">
            <a:avLst/>
          </a:prstGeom>
          <a:noFill/>
          <a:ln/>
        </p:spPr>
        <p:txBody>
          <a:bodyPr wrap="square" lIns="0" tIns="0" rIns="0" bIns="0" rtlCol="0" anchor="ctr"/>
          <a:lstStyle/>
          <a:p>
            <a:pPr rtl="1" algn="r" indent="0" marL="0">
              <a:buNone/>
            </a:pPr>
            <a:r>
              <a:rPr lang="he-IL" altLang="en-US" sz="1400" dirty="0">
                <a:solidFill>
                  <a:srgbClr val="6B7280"/>
                </a:solidFill>
                <a:latin typeface="Arial" pitchFamily="34" charset="0"/>
                <a:ea typeface="Arial" pitchFamily="34" charset="-122"/>
                <a:cs typeface="Arial" pitchFamily="34" charset="-120"/>
              </a:rPr>
              <a:t>עיקרון 1</a:t>
            </a:r>
            <a:endParaRPr lang="he-IL" sz="1400" dirty="0"/>
          </a:p>
        </p:txBody>
      </p:sp>
      <p:sp>
        <p:nvSpPr>
          <p:cNvPr id="7" name="Text 4"/>
          <p:cNvSpPr txBox="1"/>
          <p:nvPr/>
        </p:nvSpPr>
        <p:spPr>
          <a:xfrm>
            <a:off x="8463077" y="3108960"/>
            <a:ext cx="2539898" cy="1188720"/>
          </a:xfrm>
          <a:prstGeom prst="rect">
            <a:avLst/>
          </a:prstGeom>
          <a:noFill/>
          <a:ln/>
        </p:spPr>
        <p:txBody>
          <a:bodyPr wrap="square" lIns="0" tIns="0" rIns="0" bIns="0" rtlCol="0" anchor="t"/>
          <a:lstStyle/>
          <a:p>
            <a:pPr rtl="1" algn="r" indent="0" marL="0">
              <a:buNone/>
            </a:pPr>
            <a:r>
              <a:rPr lang="he-IL" altLang="en-US" sz="2400" b="1" dirty="0">
                <a:solidFill>
                  <a:srgbClr val="1C1F26"/>
                </a:solidFill>
                <a:latin typeface="Arial" pitchFamily="34" charset="0"/>
                <a:ea typeface="Arial" pitchFamily="34" charset="-122"/>
                <a:cs typeface="Arial" pitchFamily="34" charset="-120"/>
              </a:rPr>
              <a:t>אתה לא שולט במה שקורה לך</a:t>
            </a:r>
            <a:endParaRPr lang="he-IL" sz="2400" dirty="0"/>
          </a:p>
        </p:txBody>
      </p:sp>
      <p:sp>
        <p:nvSpPr>
          <p:cNvPr id="8" name="Text 5"/>
          <p:cNvSpPr txBox="1"/>
          <p:nvPr/>
        </p:nvSpPr>
        <p:spPr>
          <a:xfrm>
            <a:off x="8463077" y="4389120"/>
            <a:ext cx="2539898" cy="12801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אבל אתה כן שולט במה שאתה עושה עם זה.</a:t>
            </a:r>
            <a:endParaRPr lang="he-IL" sz="1500" dirty="0"/>
          </a:p>
        </p:txBody>
      </p:sp>
      <p:sp>
        <p:nvSpPr>
          <p:cNvPr id="9" name="Shape 6"/>
          <p:cNvSpPr/>
          <p:nvPr/>
        </p:nvSpPr>
        <p:spPr>
          <a:xfrm>
            <a:off x="4460138" y="1645920"/>
            <a:ext cx="3271418" cy="4206240"/>
          </a:xfrm>
          <a:prstGeom prst="roundRect">
            <a:avLst>
              <a:gd name="adj" fmla="val 3913"/>
            </a:avLst>
          </a:prstGeom>
          <a:solidFill>
            <a:srgbClr val="FFFFFF"/>
          </a:solidFill>
          <a:ln w="9525">
            <a:solidFill>
              <a:srgbClr val="E2DCD2"/>
            </a:solidFill>
            <a:prstDash val="solid"/>
          </a:ln>
        </p:spPr>
      </p:sp>
      <p:sp>
        <p:nvSpPr>
          <p:cNvPr id="10" name="Shape 7"/>
          <p:cNvSpPr/>
          <p:nvPr/>
        </p:nvSpPr>
        <p:spPr>
          <a:xfrm>
            <a:off x="6542837" y="2011680"/>
            <a:ext cx="822960" cy="822960"/>
          </a:xfrm>
          <a:prstGeom prst="ellipse">
            <a:avLst/>
          </a:prstGeom>
          <a:solidFill>
            <a:srgbClr val="D9B78C"/>
          </a:solidFill>
          <a:ln w="12700">
            <a:solidFill>
              <a:srgbClr val="D9B78C"/>
            </a:solidFill>
            <a:prstDash val="solid"/>
          </a:ln>
        </p:spPr>
      </p:sp>
      <p:pic>
        <p:nvPicPr>
          <p:cNvPr id="11" name="Image 1" descr="preencoded.png">    </p:cNvPr>
          <p:cNvPicPr>
            <a:picLocks noChangeAspect="1"/>
          </p:cNvPicPr>
          <p:nvPr/>
        </p:nvPicPr>
        <p:blipFill>
          <a:blip r:embed="rId2"/>
          <a:stretch>
            <a:fillRect/>
          </a:stretch>
        </p:blipFill>
        <p:spPr>
          <a:xfrm>
            <a:off x="6744005" y="2212848"/>
            <a:ext cx="420624" cy="420624"/>
          </a:xfrm>
          <a:prstGeom prst="rect">
            <a:avLst/>
          </a:prstGeom>
        </p:spPr>
      </p:pic>
      <p:sp>
        <p:nvSpPr>
          <p:cNvPr id="12" name="Text 8"/>
          <p:cNvSpPr txBox="1"/>
          <p:nvPr/>
        </p:nvSpPr>
        <p:spPr>
          <a:xfrm>
            <a:off x="4825898" y="2103120"/>
            <a:ext cx="1534058" cy="640080"/>
          </a:xfrm>
          <a:prstGeom prst="rect">
            <a:avLst/>
          </a:prstGeom>
          <a:noFill/>
          <a:ln/>
        </p:spPr>
        <p:txBody>
          <a:bodyPr wrap="square" lIns="0" tIns="0" rIns="0" bIns="0" rtlCol="0" anchor="ctr"/>
          <a:lstStyle/>
          <a:p>
            <a:pPr rtl="1" algn="r" indent="0" marL="0">
              <a:buNone/>
            </a:pPr>
            <a:r>
              <a:rPr lang="he-IL" altLang="en-US" sz="1400" dirty="0">
                <a:solidFill>
                  <a:srgbClr val="6B7280"/>
                </a:solidFill>
                <a:latin typeface="Arial" pitchFamily="34" charset="0"/>
                <a:ea typeface="Arial" pitchFamily="34" charset="-122"/>
                <a:cs typeface="Arial" pitchFamily="34" charset="-120"/>
              </a:rPr>
              <a:t>עיקרון 2</a:t>
            </a:r>
            <a:endParaRPr lang="he-IL" sz="1400" dirty="0"/>
          </a:p>
        </p:txBody>
      </p:sp>
      <p:sp>
        <p:nvSpPr>
          <p:cNvPr id="13" name="Text 9"/>
          <p:cNvSpPr txBox="1"/>
          <p:nvPr/>
        </p:nvSpPr>
        <p:spPr>
          <a:xfrm>
            <a:off x="4825898" y="3108960"/>
            <a:ext cx="2539898" cy="1188720"/>
          </a:xfrm>
          <a:prstGeom prst="rect">
            <a:avLst/>
          </a:prstGeom>
          <a:noFill/>
          <a:ln/>
        </p:spPr>
        <p:txBody>
          <a:bodyPr wrap="square" lIns="0" tIns="0" rIns="0" bIns="0" rtlCol="0" anchor="t"/>
          <a:lstStyle/>
          <a:p>
            <a:pPr rtl="1" algn="r" indent="0" marL="0">
              <a:buNone/>
            </a:pPr>
            <a:r>
              <a:rPr lang="he-IL" altLang="en-US" sz="2400" b="1" dirty="0">
                <a:solidFill>
                  <a:srgbClr val="1C1F26"/>
                </a:solidFill>
                <a:latin typeface="Arial" pitchFamily="34" charset="0"/>
                <a:ea typeface="Arial" pitchFamily="34" charset="-122"/>
                <a:cs typeface="Arial" pitchFamily="34" charset="-120"/>
              </a:rPr>
              <a:t>לא חייבים לדעת את כל הדרך</a:t>
            </a:r>
            <a:endParaRPr lang="he-IL" sz="2400" dirty="0"/>
          </a:p>
        </p:txBody>
      </p:sp>
      <p:sp>
        <p:nvSpPr>
          <p:cNvPr id="14" name="Text 10"/>
          <p:cNvSpPr txBox="1"/>
          <p:nvPr/>
        </p:nvSpPr>
        <p:spPr>
          <a:xfrm>
            <a:off x="4825898" y="4389120"/>
            <a:ext cx="2539898" cy="1280160"/>
          </a:xfrm>
          <a:prstGeom prst="rect">
            <a:avLst/>
          </a:prstGeom>
          <a:noFill/>
          <a:ln/>
        </p:spPr>
        <p:txBody>
          <a:bodyPr wrap="square" lIns="0" tIns="0" rIns="0" bIns="0" rtlCol="0" anchor="t"/>
          <a:lstStyle/>
          <a:p>
            <a:pPr rtl="1" algn="r" indent="0" marL="0">
              <a:buNone/>
            </a:pPr>
            <a:r>
              <a:rPr lang="he-IL" altLang="en-US" sz="1500" dirty="0">
                <a:solidFill>
                  <a:srgbClr val="6B7280"/>
                </a:solidFill>
                <a:latin typeface="Arial" pitchFamily="34" charset="0"/>
                <a:ea typeface="Arial" pitchFamily="34" charset="-122"/>
                <a:cs typeface="Arial" pitchFamily="34" charset="-120"/>
              </a:rPr>
              <a:t>צריך לדעת רק מה הצעד הבא.</a:t>
            </a:r>
            <a:endParaRPr lang="he-IL" sz="1500" dirty="0"/>
          </a:p>
        </p:txBody>
      </p:sp>
      <p:sp>
        <p:nvSpPr>
          <p:cNvPr id="15" name="Shape 11"/>
          <p:cNvSpPr/>
          <p:nvPr/>
        </p:nvSpPr>
        <p:spPr>
          <a:xfrm>
            <a:off x="822960" y="1645920"/>
            <a:ext cx="3271418" cy="4206240"/>
          </a:xfrm>
          <a:prstGeom prst="roundRect">
            <a:avLst>
              <a:gd name="adj" fmla="val 3913"/>
            </a:avLst>
          </a:prstGeom>
          <a:solidFill>
            <a:srgbClr val="0E1116"/>
          </a:solidFill>
          <a:ln w="9525">
            <a:solidFill>
              <a:srgbClr val="0E1116"/>
            </a:solidFill>
            <a:prstDash val="solid"/>
          </a:ln>
        </p:spPr>
      </p:sp>
      <p:sp>
        <p:nvSpPr>
          <p:cNvPr id="16" name="Shape 12"/>
          <p:cNvSpPr/>
          <p:nvPr/>
        </p:nvSpPr>
        <p:spPr>
          <a:xfrm>
            <a:off x="2905658" y="2011680"/>
            <a:ext cx="822960" cy="822960"/>
          </a:xfrm>
          <a:prstGeom prst="ellipse">
            <a:avLst/>
          </a:prstGeom>
          <a:solidFill>
            <a:srgbClr val="D9B78C"/>
          </a:solidFill>
          <a:ln w="12700">
            <a:solidFill>
              <a:srgbClr val="D9B78C"/>
            </a:solidFill>
            <a:prstDash val="solid"/>
          </a:ln>
        </p:spPr>
      </p:sp>
      <p:pic>
        <p:nvPicPr>
          <p:cNvPr id="17" name="Image 2" descr="preencoded.png">    </p:cNvPr>
          <p:cNvPicPr>
            <a:picLocks noChangeAspect="1"/>
          </p:cNvPicPr>
          <p:nvPr/>
        </p:nvPicPr>
        <p:blipFill>
          <a:blip r:embed="rId3"/>
          <a:stretch>
            <a:fillRect/>
          </a:stretch>
        </p:blipFill>
        <p:spPr>
          <a:xfrm>
            <a:off x="3106826" y="2212848"/>
            <a:ext cx="420624" cy="420624"/>
          </a:xfrm>
          <a:prstGeom prst="rect">
            <a:avLst/>
          </a:prstGeom>
        </p:spPr>
      </p:pic>
      <p:sp>
        <p:nvSpPr>
          <p:cNvPr id="18" name="Text 13"/>
          <p:cNvSpPr txBox="1"/>
          <p:nvPr/>
        </p:nvSpPr>
        <p:spPr>
          <a:xfrm>
            <a:off x="1188720" y="2103120"/>
            <a:ext cx="1534058" cy="640080"/>
          </a:xfrm>
          <a:prstGeom prst="rect">
            <a:avLst/>
          </a:prstGeom>
          <a:noFill/>
          <a:ln/>
        </p:spPr>
        <p:txBody>
          <a:bodyPr wrap="square" lIns="0" tIns="0" rIns="0" bIns="0" rtlCol="0" anchor="ctr"/>
          <a:lstStyle/>
          <a:p>
            <a:pPr rtl="1" algn="r" indent="0" marL="0">
              <a:buNone/>
            </a:pPr>
            <a:r>
              <a:rPr lang="he-IL" altLang="en-US" sz="1400" dirty="0">
                <a:solidFill>
                  <a:srgbClr val="A7ADB8"/>
                </a:solidFill>
                <a:latin typeface="Arial" pitchFamily="34" charset="0"/>
                <a:ea typeface="Arial" pitchFamily="34" charset="-122"/>
                <a:cs typeface="Arial" pitchFamily="34" charset="-120"/>
              </a:rPr>
              <a:t>עיקרון 3</a:t>
            </a:r>
            <a:endParaRPr lang="he-IL" sz="1400" dirty="0"/>
          </a:p>
        </p:txBody>
      </p:sp>
      <p:sp>
        <p:nvSpPr>
          <p:cNvPr id="19" name="Text 14"/>
          <p:cNvSpPr txBox="1"/>
          <p:nvPr/>
        </p:nvSpPr>
        <p:spPr>
          <a:xfrm>
            <a:off x="1188720" y="3108960"/>
            <a:ext cx="2539898" cy="1188720"/>
          </a:xfrm>
          <a:prstGeom prst="rect">
            <a:avLst/>
          </a:prstGeom>
          <a:noFill/>
          <a:ln/>
        </p:spPr>
        <p:txBody>
          <a:bodyPr wrap="square" lIns="0" tIns="0" rIns="0" bIns="0" rtlCol="0" anchor="t"/>
          <a:lstStyle/>
          <a:p>
            <a:pPr rtl="1" algn="r" indent="0" marL="0">
              <a:buNone/>
            </a:pPr>
            <a:r>
              <a:rPr lang="he-IL" altLang="en-US" sz="2400" b="1" dirty="0">
                <a:solidFill>
                  <a:srgbClr val="FFFFFF"/>
                </a:solidFill>
                <a:latin typeface="Arial" pitchFamily="34" charset="0"/>
                <a:ea typeface="Arial" pitchFamily="34" charset="-122"/>
                <a:cs typeface="Arial" pitchFamily="34" charset="-120"/>
              </a:rPr>
              <a:t>זהות לא מקבלים. בונים.</a:t>
            </a:r>
            <a:endParaRPr lang="he-IL" sz="2400" dirty="0"/>
          </a:p>
        </p:txBody>
      </p:sp>
      <p:sp>
        <p:nvSpPr>
          <p:cNvPr id="20" name="Text 15"/>
          <p:cNvSpPr txBox="1"/>
          <p:nvPr/>
        </p:nvSpPr>
        <p:spPr>
          <a:xfrm>
            <a:off x="1188720" y="4389120"/>
            <a:ext cx="2539898" cy="1280160"/>
          </a:xfrm>
          <a:prstGeom prst="rect">
            <a:avLst/>
          </a:prstGeom>
          <a:noFill/>
          <a:ln/>
        </p:spPr>
        <p:txBody>
          <a:bodyPr wrap="square" lIns="0" tIns="0" rIns="0" bIns="0" rtlCol="0" anchor="t"/>
          <a:lstStyle/>
          <a:p>
            <a:pPr rtl="1" algn="r" indent="0" marL="0">
              <a:buNone/>
            </a:pPr>
            <a:r>
              <a:rPr lang="he-IL" altLang="en-US" sz="1500" dirty="0">
                <a:solidFill>
                  <a:srgbClr val="A7ADB8"/>
                </a:solidFill>
                <a:latin typeface="Arial" pitchFamily="34" charset="0"/>
                <a:ea typeface="Arial" pitchFamily="34" charset="-122"/>
                <a:cs typeface="Arial" pitchFamily="34" charset="-120"/>
              </a:rPr>
              <a:t>הפציעה לא מגדירה אותך. העבר לא מגדיר אותך. גם מה שקרה לך לא מגדיר בהכרח את האדם שתהיה.</a:t>
            </a:r>
            <a:endParaRPr lang="he-IL" sz="1500" dirty="0"/>
          </a:p>
        </p:txBody>
      </p:sp>
      <p:sp>
        <p:nvSpPr>
          <p:cNvPr id="21" name="Text 16"/>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21</a:t>
            </a:r>
            <a:endParaRPr lang="he-IL"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1280160"/>
            <a:ext cx="10545775" cy="1463040"/>
          </a:xfrm>
          <a:prstGeom prst="rect">
            <a:avLst/>
          </a:prstGeom>
          <a:noFill/>
          <a:ln/>
        </p:spPr>
        <p:txBody>
          <a:bodyPr wrap="square" lIns="0" tIns="0" rIns="0" bIns="0" rtlCol="0" anchor="t"/>
          <a:lstStyle/>
          <a:p>
            <a:pPr rtl="1" algn="r" indent="0" marL="0">
              <a:buNone/>
            </a:pPr>
            <a:r>
              <a:rPr lang="he-IL" altLang="en-US" sz="9600" b="1" dirty="0">
                <a:solidFill>
                  <a:srgbClr val="D9B78C"/>
                </a:solidFill>
                <a:latin typeface="Arial" pitchFamily="34" charset="0"/>
                <a:ea typeface="Arial" pitchFamily="34" charset="-122"/>
                <a:cs typeface="Arial" pitchFamily="34" charset="-120"/>
              </a:rPr>
              <a:t>06</a:t>
            </a:r>
            <a:endParaRPr lang="he-IL" sz="9600" dirty="0"/>
          </a:p>
        </p:txBody>
      </p:sp>
      <p:sp>
        <p:nvSpPr>
          <p:cNvPr id="3" name="Text 1"/>
          <p:cNvSpPr txBox="1"/>
          <p:nvPr/>
        </p:nvSpPr>
        <p:spPr>
          <a:xfrm>
            <a:off x="822960" y="2926080"/>
            <a:ext cx="10545775" cy="1097280"/>
          </a:xfrm>
          <a:prstGeom prst="rect">
            <a:avLst/>
          </a:prstGeom>
          <a:noFill/>
          <a:ln/>
        </p:spPr>
        <p:txBody>
          <a:bodyPr wrap="square" lIns="0" tIns="0" rIns="0" bIns="0" rtlCol="0" anchor="t"/>
          <a:lstStyle/>
          <a:p>
            <a:pPr rtl="1" algn="r" indent="0" marL="0">
              <a:buNone/>
            </a:pPr>
            <a:r>
              <a:rPr lang="he-IL" altLang="en-US" sz="4400" b="1" dirty="0">
                <a:solidFill>
                  <a:srgbClr val="FFFFFF"/>
                </a:solidFill>
                <a:latin typeface="Arial" pitchFamily="34" charset="0"/>
                <a:ea typeface="Arial" pitchFamily="34" charset="-122"/>
                <a:cs typeface="Arial" pitchFamily="34" charset="-120"/>
              </a:rPr>
              <a:t>להפוך כאב למשהו</a:t>
            </a:r>
            <a:endParaRPr lang="he-IL" sz="4400" dirty="0"/>
          </a:p>
        </p:txBody>
      </p:sp>
      <p:sp>
        <p:nvSpPr>
          <p:cNvPr id="4" name="Text 2"/>
          <p:cNvSpPr txBox="1"/>
          <p:nvPr/>
        </p:nvSpPr>
        <p:spPr>
          <a:xfrm>
            <a:off x="822960" y="4206240"/>
            <a:ext cx="10545775" cy="1097280"/>
          </a:xfrm>
          <a:prstGeom prst="rect">
            <a:avLst/>
          </a:prstGeom>
          <a:noFill/>
          <a:ln/>
        </p:spPr>
        <p:txBody>
          <a:bodyPr wrap="square" lIns="0" tIns="0" rIns="0" bIns="0" rtlCol="0" anchor="t"/>
          <a:lstStyle/>
          <a:p>
            <a:pPr rtl="1" algn="r" indent="0" marL="0">
              <a:buNone/>
            </a:pPr>
            <a:r>
              <a:rPr lang="he-IL" altLang="en-US" sz="2000" dirty="0">
                <a:solidFill>
                  <a:srgbClr val="A7ADB8"/>
                </a:solidFill>
                <a:latin typeface="Arial" pitchFamily="34" charset="0"/>
                <a:ea typeface="Arial" pitchFamily="34" charset="-122"/>
                <a:cs typeface="Arial" pitchFamily="34" charset="-120"/>
              </a:rPr>
              <a:t>מה אני עושה היום.</a:t>
            </a:r>
            <a:endParaRPr lang="he-IL" sz="2000" dirty="0"/>
          </a:p>
        </p:txBody>
      </p:sp>
      <p:sp>
        <p:nvSpPr>
          <p:cNvPr id="5" name="Text 3"/>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22</a:t>
            </a:r>
            <a:endParaRPr lang="he-IL"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548640"/>
            <a:ext cx="10545775" cy="914400"/>
          </a:xfrm>
          <a:prstGeom prst="rect">
            <a:avLst/>
          </a:prstGeom>
          <a:noFill/>
          <a:ln/>
        </p:spPr>
        <p:txBody>
          <a:bodyPr wrap="square" lIns="0" tIns="0" rIns="0" bIns="0" rtlCol="0" anchor="t"/>
          <a:lstStyle/>
          <a:p>
            <a:pPr rtl="1" algn="r" indent="0" marL="0">
              <a:buNone/>
            </a:pPr>
            <a:r>
              <a:rPr lang="he-IL" altLang="en-US" sz="3600" b="1" dirty="0">
                <a:solidFill>
                  <a:srgbClr val="1C1F26"/>
                </a:solidFill>
                <a:latin typeface="Arial" pitchFamily="34" charset="0"/>
                <a:ea typeface="Arial" pitchFamily="34" charset="-122"/>
                <a:cs typeface="Arial" pitchFamily="34" charset="-120"/>
              </a:rPr>
              <a:t>מה אני עושה עם זה היום</a:t>
            </a:r>
            <a:endParaRPr lang="he-IL" sz="3600" dirty="0"/>
          </a:p>
        </p:txBody>
      </p:sp>
      <p:sp>
        <p:nvSpPr>
          <p:cNvPr id="3" name="Shape 1"/>
          <p:cNvSpPr/>
          <p:nvPr/>
        </p:nvSpPr>
        <p:spPr>
          <a:xfrm>
            <a:off x="8036357" y="1645920"/>
            <a:ext cx="3332378" cy="1965960"/>
          </a:xfrm>
          <a:prstGeom prst="roundRect">
            <a:avLst>
              <a:gd name="adj" fmla="val 5581"/>
            </a:avLst>
          </a:prstGeom>
          <a:solidFill>
            <a:srgbClr val="FFFFFF"/>
          </a:solidFill>
          <a:ln w="9525">
            <a:solidFill>
              <a:srgbClr val="E2DCD2"/>
            </a:solidFill>
            <a:prstDash val="solid"/>
          </a:ln>
        </p:spPr>
      </p:sp>
      <p:sp>
        <p:nvSpPr>
          <p:cNvPr id="4" name="Shape 2"/>
          <p:cNvSpPr/>
          <p:nvPr/>
        </p:nvSpPr>
        <p:spPr>
          <a:xfrm>
            <a:off x="10545775" y="1920240"/>
            <a:ext cx="548640" cy="548640"/>
          </a:xfrm>
          <a:prstGeom prst="ellipse">
            <a:avLst/>
          </a:prstGeom>
          <a:solidFill>
            <a:srgbClr val="D9B78C"/>
          </a:solidFill>
          <a:ln w="12700">
            <a:solidFill>
              <a:srgbClr val="D9B78C"/>
            </a:solidFill>
            <a:prstDash val="solid"/>
          </a:ln>
        </p:spPr>
      </p:sp>
      <p:pic>
        <p:nvPicPr>
          <p:cNvPr id="5" name="Image 0" descr="preencoded.png">    </p:cNvPr>
          <p:cNvPicPr>
            <a:picLocks noChangeAspect="1"/>
          </p:cNvPicPr>
          <p:nvPr/>
        </p:nvPicPr>
        <p:blipFill>
          <a:blip r:embed="rId1"/>
          <a:stretch>
            <a:fillRect/>
          </a:stretch>
        </p:blipFill>
        <p:spPr>
          <a:xfrm>
            <a:off x="10682935" y="2057400"/>
            <a:ext cx="274320" cy="274320"/>
          </a:xfrm>
          <a:prstGeom prst="rect">
            <a:avLst/>
          </a:prstGeom>
        </p:spPr>
      </p:pic>
      <p:sp>
        <p:nvSpPr>
          <p:cNvPr id="6" name="Text 3"/>
          <p:cNvSpPr txBox="1"/>
          <p:nvPr/>
        </p:nvSpPr>
        <p:spPr>
          <a:xfrm>
            <a:off x="8310677" y="192024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לימודים</a:t>
            </a:r>
            <a:endParaRPr lang="he-IL" sz="1800" dirty="0"/>
          </a:p>
        </p:txBody>
      </p:sp>
      <p:sp>
        <p:nvSpPr>
          <p:cNvPr id="7" name="Text 4"/>
          <p:cNvSpPr txBox="1"/>
          <p:nvPr/>
        </p:nvSpPr>
        <p:spPr>
          <a:xfrm>
            <a:off x="8310677" y="256032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הנדסאי בניין, ובקרוב – יזמות וקיימות באוניברסיטת רייכמן.</a:t>
            </a:r>
            <a:endParaRPr lang="he-IL" sz="1350" dirty="0"/>
          </a:p>
        </p:txBody>
      </p:sp>
      <p:sp>
        <p:nvSpPr>
          <p:cNvPr id="8" name="Shape 5"/>
          <p:cNvSpPr/>
          <p:nvPr/>
        </p:nvSpPr>
        <p:spPr>
          <a:xfrm>
            <a:off x="4429658" y="1645920"/>
            <a:ext cx="3332378" cy="1965960"/>
          </a:xfrm>
          <a:prstGeom prst="roundRect">
            <a:avLst>
              <a:gd name="adj" fmla="val 5581"/>
            </a:avLst>
          </a:prstGeom>
          <a:solidFill>
            <a:srgbClr val="FFFFFF"/>
          </a:solidFill>
          <a:ln w="9525">
            <a:solidFill>
              <a:srgbClr val="E2DCD2"/>
            </a:solidFill>
            <a:prstDash val="solid"/>
          </a:ln>
        </p:spPr>
      </p:sp>
      <p:sp>
        <p:nvSpPr>
          <p:cNvPr id="9" name="Shape 6"/>
          <p:cNvSpPr/>
          <p:nvPr/>
        </p:nvSpPr>
        <p:spPr>
          <a:xfrm>
            <a:off x="6939077" y="1920240"/>
            <a:ext cx="548640" cy="548640"/>
          </a:xfrm>
          <a:prstGeom prst="ellipse">
            <a:avLst/>
          </a:prstGeom>
          <a:solidFill>
            <a:srgbClr val="D9B78C"/>
          </a:solidFill>
          <a:ln w="12700">
            <a:solidFill>
              <a:srgbClr val="D9B78C"/>
            </a:solidFill>
            <a:prstDash val="solid"/>
          </a:ln>
        </p:spPr>
      </p:sp>
      <p:pic>
        <p:nvPicPr>
          <p:cNvPr id="10" name="Image 1" descr="preencoded.png">    </p:cNvPr>
          <p:cNvPicPr>
            <a:picLocks noChangeAspect="1"/>
          </p:cNvPicPr>
          <p:nvPr/>
        </p:nvPicPr>
        <p:blipFill>
          <a:blip r:embed="rId2"/>
          <a:stretch>
            <a:fillRect/>
          </a:stretch>
        </p:blipFill>
        <p:spPr>
          <a:xfrm>
            <a:off x="7076237" y="2057400"/>
            <a:ext cx="274320" cy="274320"/>
          </a:xfrm>
          <a:prstGeom prst="rect">
            <a:avLst/>
          </a:prstGeom>
        </p:spPr>
      </p:pic>
      <p:sp>
        <p:nvSpPr>
          <p:cNvPr id="11" name="Text 7"/>
          <p:cNvSpPr txBox="1"/>
          <p:nvPr/>
        </p:nvSpPr>
        <p:spPr>
          <a:xfrm>
            <a:off x="4703978" y="192024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עבודה</a:t>
            </a:r>
            <a:endParaRPr lang="he-IL" sz="1800" dirty="0"/>
          </a:p>
        </p:txBody>
      </p:sp>
      <p:sp>
        <p:nvSpPr>
          <p:cNvPr id="12" name="Text 8"/>
          <p:cNvSpPr txBox="1"/>
          <p:nvPr/>
        </p:nvSpPr>
        <p:spPr>
          <a:xfrm>
            <a:off x="4703978" y="256032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עבדתי בכל מיני עבודות – כל אחת לימדה אותי משהו.</a:t>
            </a:r>
            <a:endParaRPr lang="he-IL" sz="1350" dirty="0"/>
          </a:p>
        </p:txBody>
      </p:sp>
      <p:sp>
        <p:nvSpPr>
          <p:cNvPr id="13" name="Shape 9"/>
          <p:cNvSpPr/>
          <p:nvPr/>
        </p:nvSpPr>
        <p:spPr>
          <a:xfrm>
            <a:off x="822960" y="1645920"/>
            <a:ext cx="3332378" cy="1965960"/>
          </a:xfrm>
          <a:prstGeom prst="roundRect">
            <a:avLst>
              <a:gd name="adj" fmla="val 5581"/>
            </a:avLst>
          </a:prstGeom>
          <a:solidFill>
            <a:srgbClr val="FFFFFF"/>
          </a:solidFill>
          <a:ln w="9525">
            <a:solidFill>
              <a:srgbClr val="E2DCD2"/>
            </a:solidFill>
            <a:prstDash val="solid"/>
          </a:ln>
        </p:spPr>
      </p:sp>
      <p:sp>
        <p:nvSpPr>
          <p:cNvPr id="14" name="Shape 10"/>
          <p:cNvSpPr/>
          <p:nvPr/>
        </p:nvSpPr>
        <p:spPr>
          <a:xfrm>
            <a:off x="3332378" y="1920240"/>
            <a:ext cx="548640" cy="548640"/>
          </a:xfrm>
          <a:prstGeom prst="ellipse">
            <a:avLst/>
          </a:prstGeom>
          <a:solidFill>
            <a:srgbClr val="D9B78C"/>
          </a:solidFill>
          <a:ln w="12700">
            <a:solidFill>
              <a:srgbClr val="D9B78C"/>
            </a:solidFill>
            <a:prstDash val="solid"/>
          </a:ln>
        </p:spPr>
      </p:sp>
      <p:pic>
        <p:nvPicPr>
          <p:cNvPr id="15" name="Image 2" descr="preencoded.png">    </p:cNvPr>
          <p:cNvPicPr>
            <a:picLocks noChangeAspect="1"/>
          </p:cNvPicPr>
          <p:nvPr/>
        </p:nvPicPr>
        <p:blipFill>
          <a:blip r:embed="rId3"/>
          <a:stretch>
            <a:fillRect/>
          </a:stretch>
        </p:blipFill>
        <p:spPr>
          <a:xfrm>
            <a:off x="3469538" y="2057400"/>
            <a:ext cx="274320" cy="274320"/>
          </a:xfrm>
          <a:prstGeom prst="rect">
            <a:avLst/>
          </a:prstGeom>
        </p:spPr>
      </p:pic>
      <p:sp>
        <p:nvSpPr>
          <p:cNvPr id="16" name="Text 11"/>
          <p:cNvSpPr txBox="1"/>
          <p:nvPr/>
        </p:nvSpPr>
        <p:spPr>
          <a:xfrm>
            <a:off x="1097280" y="192024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הרצאות</a:t>
            </a:r>
            <a:endParaRPr lang="he-IL" sz="1800" dirty="0"/>
          </a:p>
        </p:txBody>
      </p:sp>
      <p:sp>
        <p:nvSpPr>
          <p:cNvPr id="17" name="Text 12"/>
          <p:cNvSpPr txBox="1"/>
          <p:nvPr/>
        </p:nvSpPr>
        <p:spPr>
          <a:xfrm>
            <a:off x="1097280" y="256032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לעמוד מול אנשים ולספר. לא בשביל רחמים.</a:t>
            </a:r>
            <a:endParaRPr lang="he-IL" sz="1350" dirty="0"/>
          </a:p>
        </p:txBody>
      </p:sp>
      <p:sp>
        <p:nvSpPr>
          <p:cNvPr id="18" name="Shape 13"/>
          <p:cNvSpPr/>
          <p:nvPr/>
        </p:nvSpPr>
        <p:spPr>
          <a:xfrm>
            <a:off x="8036357" y="3886200"/>
            <a:ext cx="3332378" cy="1965960"/>
          </a:xfrm>
          <a:prstGeom prst="roundRect">
            <a:avLst>
              <a:gd name="adj" fmla="val 5581"/>
            </a:avLst>
          </a:prstGeom>
          <a:solidFill>
            <a:srgbClr val="FFFFFF"/>
          </a:solidFill>
          <a:ln w="9525">
            <a:solidFill>
              <a:srgbClr val="E2DCD2"/>
            </a:solidFill>
            <a:prstDash val="solid"/>
          </a:ln>
        </p:spPr>
      </p:sp>
      <p:sp>
        <p:nvSpPr>
          <p:cNvPr id="19" name="Shape 14"/>
          <p:cNvSpPr/>
          <p:nvPr/>
        </p:nvSpPr>
        <p:spPr>
          <a:xfrm>
            <a:off x="10545775" y="4160520"/>
            <a:ext cx="548640" cy="548640"/>
          </a:xfrm>
          <a:prstGeom prst="ellipse">
            <a:avLst/>
          </a:prstGeom>
          <a:solidFill>
            <a:srgbClr val="D9B78C"/>
          </a:solidFill>
          <a:ln w="12700">
            <a:solidFill>
              <a:srgbClr val="D9B78C"/>
            </a:solidFill>
            <a:prstDash val="solid"/>
          </a:ln>
        </p:spPr>
      </p:sp>
      <p:pic>
        <p:nvPicPr>
          <p:cNvPr id="20" name="Image 3" descr="preencoded.png">    </p:cNvPr>
          <p:cNvPicPr>
            <a:picLocks noChangeAspect="1"/>
          </p:cNvPicPr>
          <p:nvPr/>
        </p:nvPicPr>
        <p:blipFill>
          <a:blip r:embed="rId4"/>
          <a:stretch>
            <a:fillRect/>
          </a:stretch>
        </p:blipFill>
        <p:spPr>
          <a:xfrm>
            <a:off x="10682935" y="4297680"/>
            <a:ext cx="274320" cy="274320"/>
          </a:xfrm>
          <a:prstGeom prst="rect">
            <a:avLst/>
          </a:prstGeom>
        </p:spPr>
      </p:pic>
      <p:sp>
        <p:nvSpPr>
          <p:cNvPr id="21" name="Text 15"/>
          <p:cNvSpPr txBox="1"/>
          <p:nvPr/>
        </p:nvSpPr>
        <p:spPr>
          <a:xfrm>
            <a:off x="8310677" y="416052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קורסים והתנסויות</a:t>
            </a:r>
            <a:endParaRPr lang="he-IL" sz="1800" dirty="0"/>
          </a:p>
        </p:txBody>
      </p:sp>
      <p:sp>
        <p:nvSpPr>
          <p:cNvPr id="22" name="Text 16"/>
          <p:cNvSpPr txBox="1"/>
          <p:nvPr/>
        </p:nvSpPr>
        <p:spPr>
          <a:xfrm>
            <a:off x="8310677" y="480060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מיציתי את עצמי עד הקצה: קורסים, טיולים בעולם, ניסיון בכל דבר.</a:t>
            </a:r>
            <a:endParaRPr lang="he-IL" sz="1350" dirty="0"/>
          </a:p>
        </p:txBody>
      </p:sp>
      <p:sp>
        <p:nvSpPr>
          <p:cNvPr id="23" name="Shape 17"/>
          <p:cNvSpPr/>
          <p:nvPr/>
        </p:nvSpPr>
        <p:spPr>
          <a:xfrm>
            <a:off x="4429658" y="3886200"/>
            <a:ext cx="3332378" cy="1965960"/>
          </a:xfrm>
          <a:prstGeom prst="roundRect">
            <a:avLst>
              <a:gd name="adj" fmla="val 5581"/>
            </a:avLst>
          </a:prstGeom>
          <a:solidFill>
            <a:srgbClr val="FFFFFF"/>
          </a:solidFill>
          <a:ln w="9525">
            <a:solidFill>
              <a:srgbClr val="E2DCD2"/>
            </a:solidFill>
            <a:prstDash val="solid"/>
          </a:ln>
        </p:spPr>
      </p:sp>
      <p:sp>
        <p:nvSpPr>
          <p:cNvPr id="24" name="Shape 18"/>
          <p:cNvSpPr/>
          <p:nvPr/>
        </p:nvSpPr>
        <p:spPr>
          <a:xfrm>
            <a:off x="6939077" y="4160520"/>
            <a:ext cx="548640" cy="548640"/>
          </a:xfrm>
          <a:prstGeom prst="ellipse">
            <a:avLst/>
          </a:prstGeom>
          <a:solidFill>
            <a:srgbClr val="D9B78C"/>
          </a:solidFill>
          <a:ln w="12700">
            <a:solidFill>
              <a:srgbClr val="D9B78C"/>
            </a:solidFill>
            <a:prstDash val="solid"/>
          </a:ln>
        </p:spPr>
      </p:sp>
      <p:pic>
        <p:nvPicPr>
          <p:cNvPr id="25" name="Image 4" descr="preencoded.png">    </p:cNvPr>
          <p:cNvPicPr>
            <a:picLocks noChangeAspect="1"/>
          </p:cNvPicPr>
          <p:nvPr/>
        </p:nvPicPr>
        <p:blipFill>
          <a:blip r:embed="rId5"/>
          <a:stretch>
            <a:fillRect/>
          </a:stretch>
        </p:blipFill>
        <p:spPr>
          <a:xfrm>
            <a:off x="7076237" y="4297680"/>
            <a:ext cx="274320" cy="274320"/>
          </a:xfrm>
          <a:prstGeom prst="rect">
            <a:avLst/>
          </a:prstGeom>
        </p:spPr>
      </p:pic>
      <p:sp>
        <p:nvSpPr>
          <p:cNvPr id="26" name="Text 19"/>
          <p:cNvSpPr txBox="1"/>
          <p:nvPr/>
        </p:nvSpPr>
        <p:spPr>
          <a:xfrm>
            <a:off x="4703978" y="416052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שאיפות</a:t>
            </a:r>
            <a:endParaRPr lang="he-IL" sz="1800" dirty="0"/>
          </a:p>
        </p:txBody>
      </p:sp>
      <p:sp>
        <p:nvSpPr>
          <p:cNvPr id="27" name="Text 20"/>
          <p:cNvSpPr txBox="1"/>
          <p:nvPr/>
        </p:nvSpPr>
        <p:spPr>
          <a:xfrm>
            <a:off x="4703978" y="480060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יש לי שאיפות גדולות. אני לא יודע את כל הדרך – אני יודע מה הצעד הבא.</a:t>
            </a:r>
            <a:endParaRPr lang="he-IL" sz="1350" dirty="0"/>
          </a:p>
        </p:txBody>
      </p:sp>
      <p:sp>
        <p:nvSpPr>
          <p:cNvPr id="28" name="Shape 21"/>
          <p:cNvSpPr/>
          <p:nvPr/>
        </p:nvSpPr>
        <p:spPr>
          <a:xfrm>
            <a:off x="822960" y="3886200"/>
            <a:ext cx="3332378" cy="1965960"/>
          </a:xfrm>
          <a:prstGeom prst="roundRect">
            <a:avLst>
              <a:gd name="adj" fmla="val 5581"/>
            </a:avLst>
          </a:prstGeom>
          <a:solidFill>
            <a:srgbClr val="FFFFFF"/>
          </a:solidFill>
          <a:ln w="9525">
            <a:solidFill>
              <a:srgbClr val="E2DCD2"/>
            </a:solidFill>
            <a:prstDash val="solid"/>
          </a:ln>
        </p:spPr>
      </p:sp>
      <p:sp>
        <p:nvSpPr>
          <p:cNvPr id="29" name="Shape 22"/>
          <p:cNvSpPr/>
          <p:nvPr/>
        </p:nvSpPr>
        <p:spPr>
          <a:xfrm>
            <a:off x="3332378" y="4160520"/>
            <a:ext cx="548640" cy="548640"/>
          </a:xfrm>
          <a:prstGeom prst="ellipse">
            <a:avLst/>
          </a:prstGeom>
          <a:solidFill>
            <a:srgbClr val="D9B78C"/>
          </a:solidFill>
          <a:ln w="12700">
            <a:solidFill>
              <a:srgbClr val="D9B78C"/>
            </a:solidFill>
            <a:prstDash val="solid"/>
          </a:ln>
        </p:spPr>
      </p:sp>
      <p:pic>
        <p:nvPicPr>
          <p:cNvPr id="30" name="Image 5" descr="preencoded.png">    </p:cNvPr>
          <p:cNvPicPr>
            <a:picLocks noChangeAspect="1"/>
          </p:cNvPicPr>
          <p:nvPr/>
        </p:nvPicPr>
        <p:blipFill>
          <a:blip r:embed="rId6"/>
          <a:stretch>
            <a:fillRect/>
          </a:stretch>
        </p:blipFill>
        <p:spPr>
          <a:xfrm>
            <a:off x="3469538" y="4297680"/>
            <a:ext cx="274320" cy="274320"/>
          </a:xfrm>
          <a:prstGeom prst="rect">
            <a:avLst/>
          </a:prstGeom>
        </p:spPr>
      </p:pic>
      <p:sp>
        <p:nvSpPr>
          <p:cNvPr id="31" name="Text 23"/>
          <p:cNvSpPr txBox="1"/>
          <p:nvPr/>
        </p:nvSpPr>
        <p:spPr>
          <a:xfrm>
            <a:off x="1097280" y="4160520"/>
            <a:ext cx="2143658" cy="548640"/>
          </a:xfrm>
          <a:prstGeom prst="rect">
            <a:avLst/>
          </a:prstGeom>
          <a:noFill/>
          <a:ln/>
        </p:spPr>
        <p:txBody>
          <a:bodyPr wrap="square" lIns="0" tIns="0" rIns="0" bIns="0" rtlCol="0" anchor="ctr"/>
          <a:lstStyle/>
          <a:p>
            <a:pPr rtl="1" algn="r" indent="0" marL="0">
              <a:buNone/>
            </a:pPr>
            <a:r>
              <a:rPr lang="he-IL" altLang="en-US" sz="1800" b="1" dirty="0">
                <a:solidFill>
                  <a:srgbClr val="1C1F26"/>
                </a:solidFill>
                <a:latin typeface="Arial" pitchFamily="34" charset="0"/>
                <a:ea typeface="Arial" pitchFamily="34" charset="-122"/>
                <a:cs typeface="Arial" pitchFamily="34" charset="-120"/>
              </a:rPr>
              <a:t>הרצון להתפתח</a:t>
            </a:r>
            <a:endParaRPr lang="he-IL" sz="1800" dirty="0"/>
          </a:p>
        </p:txBody>
      </p:sp>
      <p:sp>
        <p:nvSpPr>
          <p:cNvPr id="32" name="Text 24"/>
          <p:cNvSpPr txBox="1"/>
          <p:nvPr/>
        </p:nvSpPr>
        <p:spPr>
          <a:xfrm>
            <a:off x="1097280" y="4800600"/>
            <a:ext cx="2783738" cy="914400"/>
          </a:xfrm>
          <a:prstGeom prst="rect">
            <a:avLst/>
          </a:prstGeom>
          <a:noFill/>
          <a:ln/>
        </p:spPr>
        <p:txBody>
          <a:bodyPr wrap="square" lIns="0" tIns="0" rIns="0" bIns="0" rtlCol="0" anchor="t"/>
          <a:lstStyle/>
          <a:p>
            <a:pPr rtl="1" algn="r" indent="0" marL="0">
              <a:buNone/>
            </a:pPr>
            <a:r>
              <a:rPr lang="he-IL" altLang="en-US" sz="1350" dirty="0">
                <a:solidFill>
                  <a:srgbClr val="6B7280"/>
                </a:solidFill>
                <a:latin typeface="Arial" pitchFamily="34" charset="0"/>
                <a:ea typeface="Arial" pitchFamily="34" charset="-122"/>
                <a:cs typeface="Arial" pitchFamily="34" charset="-120"/>
              </a:rPr>
              <a:t>לא לעצור. תמיד אפשר להיות יותר טוב.</a:t>
            </a:r>
            <a:endParaRPr lang="he-IL" sz="1350" dirty="0"/>
          </a:p>
        </p:txBody>
      </p:sp>
      <p:sp>
        <p:nvSpPr>
          <p:cNvPr id="33" name="Text 2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23</a:t>
            </a:r>
            <a:endParaRPr lang="he-IL"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731520"/>
          </a:xfrm>
          <a:prstGeom prst="rect">
            <a:avLst/>
          </a:prstGeom>
          <a:noFill/>
          <a:ln/>
        </p:spPr>
        <p:txBody>
          <a:bodyPr wrap="square" lIns="0" tIns="0" rIns="0" bIns="0" rtlCol="0" anchor="t"/>
          <a:lstStyle/>
          <a:p>
            <a:pPr rtl="1" algn="ctr" indent="0" marL="0">
              <a:buNone/>
            </a:pPr>
            <a:r>
              <a:rPr lang="he-IL" altLang="en-US" sz="2800" b="1" dirty="0">
                <a:solidFill>
                  <a:srgbClr val="A7ADB8"/>
                </a:solidFill>
                <a:latin typeface="Arial" pitchFamily="34" charset="0"/>
                <a:ea typeface="Arial" pitchFamily="34" charset="-122"/>
                <a:cs typeface="Arial" pitchFamily="34" charset="-120"/>
              </a:rPr>
              <a:t>למה אני עומד פה?</a:t>
            </a:r>
            <a:endParaRPr lang="he-IL" sz="2800" dirty="0"/>
          </a:p>
        </p:txBody>
      </p:sp>
      <p:sp>
        <p:nvSpPr>
          <p:cNvPr id="3" name="Text 1"/>
          <p:cNvSpPr txBox="1"/>
          <p:nvPr/>
        </p:nvSpPr>
        <p:spPr>
          <a:xfrm>
            <a:off x="822960" y="1554480"/>
            <a:ext cx="10545775" cy="640080"/>
          </a:xfrm>
          <a:prstGeom prst="rect">
            <a:avLst/>
          </a:prstGeom>
          <a:noFill/>
          <a:ln/>
        </p:spPr>
        <p:txBody>
          <a:bodyPr wrap="square" lIns="0" tIns="0" rIns="0" bIns="0" rtlCol="0" anchor="t"/>
          <a:lstStyle/>
          <a:p>
            <a:pPr rtl="1" algn="ctr" indent="0" marL="0">
              <a:buNone/>
            </a:pPr>
            <a:r>
              <a:rPr lang="he-IL" altLang="en-US" sz="2200" dirty="0">
                <a:solidFill>
                  <a:srgbClr val="FFFFFF"/>
                </a:solidFill>
                <a:latin typeface="Arial" pitchFamily="34" charset="0"/>
                <a:ea typeface="Arial" pitchFamily="34" charset="-122"/>
                <a:cs typeface="Arial" pitchFamily="34" charset="-120"/>
              </a:rPr>
              <a:t>לא בשביל שירחמו עליי.   לא בשביל ״איזה גיבור״.</a:t>
            </a:r>
            <a:endParaRPr lang="he-IL" sz="2200" dirty="0"/>
          </a:p>
        </p:txBody>
      </p:sp>
      <p:sp>
        <p:nvSpPr>
          <p:cNvPr id="4" name="Shape 2"/>
          <p:cNvSpPr/>
          <p:nvPr/>
        </p:nvSpPr>
        <p:spPr>
          <a:xfrm>
            <a:off x="1280160" y="2651760"/>
            <a:ext cx="9631375" cy="2651760"/>
          </a:xfrm>
          <a:prstGeom prst="roundRect">
            <a:avLst>
              <a:gd name="adj" fmla="val 5172"/>
            </a:avLst>
          </a:prstGeom>
          <a:solidFill>
            <a:srgbClr val="171C24"/>
          </a:solidFill>
          <a:ln w="9525">
            <a:solidFill>
              <a:srgbClr val="2A313C"/>
            </a:solidFill>
            <a:prstDash val="solid"/>
          </a:ln>
        </p:spPr>
      </p:sp>
      <p:pic>
        <p:nvPicPr>
          <p:cNvPr id="5" name="Image 0" descr="preencoded.png">    </p:cNvPr>
          <p:cNvPicPr>
            <a:picLocks noChangeAspect="1"/>
          </p:cNvPicPr>
          <p:nvPr/>
        </p:nvPicPr>
        <p:blipFill>
          <a:blip r:embed="rId1"/>
          <a:stretch>
            <a:fillRect/>
          </a:stretch>
        </p:blipFill>
        <p:spPr>
          <a:xfrm>
            <a:off x="9905695" y="2926080"/>
            <a:ext cx="640080" cy="640080"/>
          </a:xfrm>
          <a:prstGeom prst="rect">
            <a:avLst/>
          </a:prstGeom>
        </p:spPr>
      </p:pic>
      <p:sp>
        <p:nvSpPr>
          <p:cNvPr id="6" name="Text 3"/>
          <p:cNvSpPr txBox="1"/>
          <p:nvPr/>
        </p:nvSpPr>
        <p:spPr>
          <a:xfrm>
            <a:off x="1737360" y="3108960"/>
            <a:ext cx="7894015" cy="2011680"/>
          </a:xfrm>
          <a:prstGeom prst="rect">
            <a:avLst/>
          </a:prstGeom>
          <a:noFill/>
          <a:ln/>
        </p:spPr>
        <p:txBody>
          <a:bodyPr wrap="square" lIns="0" tIns="0" rIns="0" bIns="0" rtlCol="0" anchor="ctr"/>
          <a:lstStyle/>
          <a:p>
            <a:pPr rtl="1" algn="r" indent="0" marL="0">
              <a:buNone/>
            </a:pPr>
            <a:r>
              <a:rPr lang="he-IL" altLang="en-US" sz="2400" b="1" dirty="0">
                <a:solidFill>
                  <a:srgbClr val="FFFFFF"/>
                </a:solidFill>
                <a:latin typeface="Arial" pitchFamily="34" charset="0"/>
                <a:ea typeface="Arial" pitchFamily="34" charset="-122"/>
                <a:cs typeface="Arial" pitchFamily="34" charset="-120"/>
              </a:rPr>
              <a:t>״אני מספר לכם את הסיפור שלי כי אם בן אדם אחד כאן יחליט לקחת אחריות על החיים שלו בגלל משהו שהוא שמע ממני – היה שווה לי לספר אותו.״</a:t>
            </a:r>
            <a:endParaRPr lang="he-IL" sz="2400" dirty="0"/>
          </a:p>
        </p:txBody>
      </p:sp>
      <p:sp>
        <p:nvSpPr>
          <p:cNvPr id="7" name="Text 4"/>
          <p:cNvSpPr txBox="1"/>
          <p:nvPr/>
        </p:nvSpPr>
        <p:spPr>
          <a:xfrm>
            <a:off x="822960" y="5577840"/>
            <a:ext cx="10545775" cy="548640"/>
          </a:xfrm>
          <a:prstGeom prst="rect">
            <a:avLst/>
          </a:prstGeom>
          <a:noFill/>
          <a:ln/>
        </p:spPr>
        <p:txBody>
          <a:bodyPr wrap="square" lIns="0" tIns="0" rIns="0" bIns="0" rtlCol="0" anchor="t"/>
          <a:lstStyle/>
          <a:p>
            <a:pPr rtl="1" algn="ctr" indent="0" marL="0">
              <a:buNone/>
            </a:pPr>
            <a:r>
              <a:rPr lang="he-IL" altLang="en-US" sz="1800" dirty="0">
                <a:solidFill>
                  <a:srgbClr val="D9B78C"/>
                </a:solidFill>
                <a:latin typeface="Arial" pitchFamily="34" charset="0"/>
                <a:ea typeface="Arial" pitchFamily="34" charset="-122"/>
                <a:cs typeface="Arial" pitchFamily="34" charset="-120"/>
              </a:rPr>
              <a:t>לא תמיד אפשר לבחור את הסיפור שקיבלת. אפשר לבחור מה אתה עושה איתו.</a:t>
            </a:r>
            <a:endParaRPr lang="he-IL" sz="1800" dirty="0"/>
          </a:p>
        </p:txBody>
      </p:sp>
      <p:sp>
        <p:nvSpPr>
          <p:cNvPr id="8"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24</a:t>
            </a:r>
            <a:endParaRPr lang="he-IL"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3EE"/>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731520"/>
          </a:xfrm>
          <a:prstGeom prst="rect">
            <a:avLst/>
          </a:prstGeom>
          <a:noFill/>
          <a:ln/>
        </p:spPr>
        <p:txBody>
          <a:bodyPr wrap="square" lIns="0" tIns="0" rIns="0" bIns="0" rtlCol="0" anchor="t"/>
          <a:lstStyle/>
          <a:p>
            <a:pPr rtl="1" algn="ctr" indent="0" marL="0">
              <a:buNone/>
            </a:pPr>
            <a:r>
              <a:rPr lang="he-IL" altLang="en-US" sz="2800" b="1" dirty="0">
                <a:solidFill>
                  <a:srgbClr val="6B7280"/>
                </a:solidFill>
                <a:latin typeface="Arial" pitchFamily="34" charset="0"/>
                <a:ea typeface="Arial" pitchFamily="34" charset="-122"/>
                <a:cs typeface="Arial" pitchFamily="34" charset="-120"/>
              </a:rPr>
              <a:t>ומה עם המדינה?</a:t>
            </a:r>
            <a:endParaRPr lang="he-IL" sz="2800" dirty="0"/>
          </a:p>
        </p:txBody>
      </p:sp>
      <p:sp>
        <p:nvSpPr>
          <p:cNvPr id="3" name="Text 1"/>
          <p:cNvSpPr txBox="1"/>
          <p:nvPr/>
        </p:nvSpPr>
        <p:spPr>
          <a:xfrm>
            <a:off x="914400" y="1828800"/>
            <a:ext cx="10362895" cy="1097280"/>
          </a:xfrm>
          <a:prstGeom prst="rect">
            <a:avLst/>
          </a:prstGeom>
          <a:noFill/>
          <a:ln/>
        </p:spPr>
        <p:txBody>
          <a:bodyPr wrap="square" lIns="0" tIns="0" rIns="0" bIns="0" rtlCol="0" anchor="t"/>
          <a:lstStyle/>
          <a:p>
            <a:pPr rtl="1" algn="ctr" indent="0" marL="0">
              <a:buNone/>
            </a:pPr>
            <a:r>
              <a:rPr lang="he-IL" altLang="en-US" sz="6000" b="1" dirty="0">
                <a:solidFill>
                  <a:srgbClr val="1C1F26"/>
                </a:solidFill>
                <a:latin typeface="Arial" pitchFamily="34" charset="0"/>
                <a:ea typeface="Arial" pitchFamily="34" charset="-122"/>
                <a:cs typeface="Arial" pitchFamily="34" charset="-120"/>
              </a:rPr>
              <a:t>אין בי כעס.</a:t>
            </a:r>
            <a:endParaRPr lang="he-IL" sz="6000" dirty="0"/>
          </a:p>
        </p:txBody>
      </p:sp>
      <p:sp>
        <p:nvSpPr>
          <p:cNvPr id="4" name="Text 2"/>
          <p:cNvSpPr txBox="1"/>
          <p:nvPr/>
        </p:nvSpPr>
        <p:spPr>
          <a:xfrm>
            <a:off x="914400" y="3017520"/>
            <a:ext cx="10362895" cy="640080"/>
          </a:xfrm>
          <a:prstGeom prst="rect">
            <a:avLst/>
          </a:prstGeom>
          <a:noFill/>
          <a:ln/>
        </p:spPr>
        <p:txBody>
          <a:bodyPr wrap="square" lIns="0" tIns="0" rIns="0" bIns="0" rtlCol="0" anchor="t"/>
          <a:lstStyle/>
          <a:p>
            <a:pPr rtl="1" algn="ctr" indent="0" marL="0">
              <a:buNone/>
            </a:pPr>
            <a:r>
              <a:rPr lang="he-IL" altLang="en-US" sz="2200" dirty="0">
                <a:solidFill>
                  <a:srgbClr val="6B7280"/>
                </a:solidFill>
                <a:latin typeface="Arial" pitchFamily="34" charset="0"/>
                <a:ea typeface="Arial" pitchFamily="34" charset="-122"/>
                <a:cs typeface="Arial" pitchFamily="34" charset="-120"/>
              </a:rPr>
              <a:t>לא על ״ההפקרה״, לא על המדינה, לא על אף אחד.</a:t>
            </a:r>
            <a:endParaRPr lang="he-IL" sz="2200" dirty="0"/>
          </a:p>
        </p:txBody>
      </p:sp>
      <p:sp>
        <p:nvSpPr>
          <p:cNvPr id="5" name="Text 3"/>
          <p:cNvSpPr txBox="1"/>
          <p:nvPr/>
        </p:nvSpPr>
        <p:spPr>
          <a:xfrm>
            <a:off x="914400" y="4023360"/>
            <a:ext cx="10362895" cy="822960"/>
          </a:xfrm>
          <a:prstGeom prst="rect">
            <a:avLst/>
          </a:prstGeom>
          <a:noFill/>
          <a:ln/>
        </p:spPr>
        <p:txBody>
          <a:bodyPr wrap="square" lIns="0" tIns="0" rIns="0" bIns="0" rtlCol="0" anchor="t"/>
          <a:lstStyle/>
          <a:p>
            <a:pPr rtl="1" algn="ctr" indent="0" marL="0">
              <a:buNone/>
            </a:pPr>
            <a:r>
              <a:rPr lang="he-IL" altLang="en-US" sz="3600" b="1" dirty="0">
                <a:solidFill>
                  <a:srgbClr val="B8925C"/>
                </a:solidFill>
                <a:latin typeface="Arial" pitchFamily="34" charset="0"/>
                <a:ea typeface="Arial" pitchFamily="34" charset="-122"/>
                <a:cs typeface="Arial" pitchFamily="34" charset="-120"/>
              </a:rPr>
              <a:t>אני מקווה שנתאחד כעם.</a:t>
            </a:r>
            <a:endParaRPr lang="he-IL" sz="3600" dirty="0"/>
          </a:p>
        </p:txBody>
      </p:sp>
      <p:sp>
        <p:nvSpPr>
          <p:cNvPr id="6" name="Text 4"/>
          <p:cNvSpPr txBox="1"/>
          <p:nvPr/>
        </p:nvSpPr>
        <p:spPr>
          <a:xfrm>
            <a:off x="914400" y="4846320"/>
            <a:ext cx="10362895" cy="640080"/>
          </a:xfrm>
          <a:prstGeom prst="rect">
            <a:avLst/>
          </a:prstGeom>
          <a:noFill/>
          <a:ln/>
        </p:spPr>
        <p:txBody>
          <a:bodyPr wrap="square" lIns="0" tIns="0" rIns="0" bIns="0" rtlCol="0" anchor="t"/>
          <a:lstStyle/>
          <a:p>
            <a:pPr rtl="1" algn="ctr" indent="0" marL="0">
              <a:buNone/>
            </a:pPr>
            <a:r>
              <a:rPr lang="he-IL" altLang="en-US" sz="2000" dirty="0">
                <a:solidFill>
                  <a:srgbClr val="1C1F26"/>
                </a:solidFill>
                <a:latin typeface="Arial" pitchFamily="34" charset="0"/>
                <a:ea typeface="Arial" pitchFamily="34" charset="-122"/>
                <a:cs typeface="Arial" pitchFamily="34" charset="-120"/>
              </a:rPr>
              <a:t>זה הדבר הראשון שצריך לקרות בשביל שינוי אמיתי.</a:t>
            </a:r>
            <a:endParaRPr lang="he-IL" sz="2000" dirty="0"/>
          </a:p>
        </p:txBody>
      </p:sp>
      <p:sp>
        <p:nvSpPr>
          <p:cNvPr id="7" name="Text 5"/>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6B7280"/>
                </a:solidFill>
                <a:latin typeface="Arial" pitchFamily="34" charset="0"/>
                <a:ea typeface="Arial" pitchFamily="34" charset="-122"/>
                <a:cs typeface="Arial" pitchFamily="34" charset="-120"/>
              </a:rPr>
              <a:t>25</a:t>
            </a:r>
            <a:endParaRPr lang="he-IL"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914400" y="1371600"/>
            <a:ext cx="10362895" cy="731520"/>
          </a:xfrm>
          <a:prstGeom prst="rect">
            <a:avLst/>
          </a:prstGeom>
          <a:noFill/>
          <a:ln/>
        </p:spPr>
        <p:txBody>
          <a:bodyPr wrap="square" lIns="0" tIns="0" rIns="0" bIns="0" rtlCol="0" anchor="t"/>
          <a:lstStyle/>
          <a:p>
            <a:pPr rtl="1" algn="ctr" indent="0" marL="0">
              <a:buNone/>
            </a:pPr>
            <a:r>
              <a:rPr lang="he-IL" altLang="en-US" sz="2800" dirty="0">
                <a:solidFill>
                  <a:srgbClr val="A7ADB8"/>
                </a:solidFill>
                <a:latin typeface="Arial" pitchFamily="34" charset="0"/>
                <a:ea typeface="Arial" pitchFamily="34" charset="-122"/>
                <a:cs typeface="Arial" pitchFamily="34" charset="-120"/>
              </a:rPr>
              <a:t>אז חשבתי שההחלטה הכי חשובה שקיבלתי</a:t>
            </a:r>
            <a:endParaRPr lang="he-IL" sz="2800" dirty="0"/>
          </a:p>
        </p:txBody>
      </p:sp>
      <p:sp>
        <p:nvSpPr>
          <p:cNvPr id="3" name="Text 1"/>
          <p:cNvSpPr txBox="1"/>
          <p:nvPr/>
        </p:nvSpPr>
        <p:spPr>
          <a:xfrm>
            <a:off x="914400" y="2103120"/>
            <a:ext cx="10362895" cy="822960"/>
          </a:xfrm>
          <a:prstGeom prst="rect">
            <a:avLst/>
          </a:prstGeom>
          <a:noFill/>
          <a:ln/>
        </p:spPr>
        <p:txBody>
          <a:bodyPr wrap="square" lIns="0" tIns="0" rIns="0" bIns="0" rtlCol="0" anchor="t"/>
          <a:lstStyle/>
          <a:p>
            <a:pPr rtl="1" algn="ctr" indent="0" marL="0">
              <a:buNone/>
            </a:pPr>
            <a:r>
              <a:rPr lang="he-IL" altLang="en-US" sz="3400" b="1" dirty="0">
                <a:solidFill>
                  <a:srgbClr val="A7ADB8"/>
                </a:solidFill>
                <a:latin typeface="Arial" pitchFamily="34" charset="0"/>
                <a:ea typeface="Arial" pitchFamily="34" charset="-122"/>
                <a:cs typeface="Arial" pitchFamily="34" charset="-120"/>
              </a:rPr>
              <a:t>הייתה להמשיך להילחם.</a:t>
            </a:r>
            <a:endParaRPr lang="he-IL" sz="3400" dirty="0"/>
          </a:p>
        </p:txBody>
      </p:sp>
      <p:sp>
        <p:nvSpPr>
          <p:cNvPr id="4" name="Text 2"/>
          <p:cNvSpPr txBox="1"/>
          <p:nvPr/>
        </p:nvSpPr>
        <p:spPr>
          <a:xfrm>
            <a:off x="914400" y="3383280"/>
            <a:ext cx="10362895" cy="731520"/>
          </a:xfrm>
          <a:prstGeom prst="rect">
            <a:avLst/>
          </a:prstGeom>
          <a:noFill/>
          <a:ln/>
        </p:spPr>
        <p:txBody>
          <a:bodyPr wrap="square" lIns="0" tIns="0" rIns="0" bIns="0" rtlCol="0" anchor="t"/>
          <a:lstStyle/>
          <a:p>
            <a:pPr rtl="1" algn="ctr" indent="0" marL="0">
              <a:buNone/>
            </a:pPr>
            <a:r>
              <a:rPr lang="he-IL" altLang="en-US" sz="2800" dirty="0">
                <a:solidFill>
                  <a:srgbClr val="FFFFFF"/>
                </a:solidFill>
                <a:latin typeface="Arial" pitchFamily="34" charset="0"/>
                <a:ea typeface="Arial" pitchFamily="34" charset="-122"/>
                <a:cs typeface="Arial" pitchFamily="34" charset="-120"/>
              </a:rPr>
              <a:t>היום אני מבין שההחלטה החשובה באמת הייתה</a:t>
            </a:r>
            <a:endParaRPr lang="he-IL" sz="2800" dirty="0"/>
          </a:p>
        </p:txBody>
      </p:sp>
      <p:sp>
        <p:nvSpPr>
          <p:cNvPr id="5" name="Text 3"/>
          <p:cNvSpPr txBox="1"/>
          <p:nvPr/>
        </p:nvSpPr>
        <p:spPr>
          <a:xfrm>
            <a:off x="914400" y="4114800"/>
            <a:ext cx="10362895" cy="1005840"/>
          </a:xfrm>
          <a:prstGeom prst="rect">
            <a:avLst/>
          </a:prstGeom>
          <a:noFill/>
          <a:ln/>
        </p:spPr>
        <p:txBody>
          <a:bodyPr wrap="square" lIns="0" tIns="0" rIns="0" bIns="0" rtlCol="0" anchor="t"/>
          <a:lstStyle/>
          <a:p>
            <a:pPr rtl="1" algn="ctr" indent="0" marL="0">
              <a:buNone/>
            </a:pPr>
            <a:r>
              <a:rPr lang="he-IL" altLang="en-US" sz="4200" b="1" dirty="0">
                <a:solidFill>
                  <a:srgbClr val="D9B78C"/>
                </a:solidFill>
                <a:latin typeface="Arial" pitchFamily="34" charset="0"/>
                <a:ea typeface="Arial" pitchFamily="34" charset="-122"/>
                <a:cs typeface="Arial" pitchFamily="34" charset="-120"/>
              </a:rPr>
              <a:t>מה אני עושה אחרי שהמלחמה נגמרה.</a:t>
            </a:r>
            <a:endParaRPr lang="he-IL" sz="4200" dirty="0"/>
          </a:p>
        </p:txBody>
      </p:sp>
      <p:sp>
        <p:nvSpPr>
          <p:cNvPr id="6" name="Text 4"/>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26</a:t>
            </a:r>
            <a:endParaRPr lang="he-IL"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914400"/>
          </a:xfrm>
          <a:prstGeom prst="rect">
            <a:avLst/>
          </a:prstGeom>
          <a:noFill/>
          <a:ln/>
        </p:spPr>
        <p:txBody>
          <a:bodyPr wrap="square" lIns="0" tIns="0" rIns="0" bIns="0" rtlCol="0" anchor="t"/>
          <a:lstStyle/>
          <a:p>
            <a:pPr rtl="1" algn="ctr" indent="0" marL="0">
              <a:buNone/>
            </a:pPr>
            <a:r>
              <a:rPr lang="he-IL" altLang="en-US" sz="3000" b="1" dirty="0">
                <a:solidFill>
                  <a:srgbClr val="FFFFFF"/>
                </a:solidFill>
                <a:latin typeface="Arial" pitchFamily="34" charset="0"/>
                <a:ea typeface="Arial" pitchFamily="34" charset="-122"/>
                <a:cs typeface="Arial" pitchFamily="34" charset="-120"/>
              </a:rPr>
              <a:t>ההחלטה הייתה לקחת את ההחלטות בחיים שלי בעצמי.</a:t>
            </a:r>
            <a:endParaRPr lang="he-IL" sz="3000" dirty="0"/>
          </a:p>
        </p:txBody>
      </p:sp>
      <p:sp>
        <p:nvSpPr>
          <p:cNvPr id="3" name="Text 1"/>
          <p:cNvSpPr txBox="1"/>
          <p:nvPr/>
        </p:nvSpPr>
        <p:spPr>
          <a:xfrm>
            <a:off x="822960" y="1463040"/>
            <a:ext cx="10545775" cy="548640"/>
          </a:xfrm>
          <a:prstGeom prst="rect">
            <a:avLst/>
          </a:prstGeom>
          <a:noFill/>
          <a:ln/>
        </p:spPr>
        <p:txBody>
          <a:bodyPr wrap="square" lIns="0" tIns="0" rIns="0" bIns="0" rtlCol="0" anchor="t"/>
          <a:lstStyle/>
          <a:p>
            <a:pPr rtl="1" algn="ctr" indent="0" marL="0">
              <a:buNone/>
            </a:pPr>
            <a:r>
              <a:rPr lang="he-IL" altLang="en-US" sz="1800" dirty="0">
                <a:solidFill>
                  <a:srgbClr val="A7ADB8"/>
                </a:solidFill>
                <a:latin typeface="Arial" pitchFamily="34" charset="0"/>
                <a:ea typeface="Arial" pitchFamily="34" charset="-122"/>
                <a:cs typeface="Arial" pitchFamily="34" charset="-120"/>
              </a:rPr>
              <a:t>אותה החלטה. שלוש פעמים.</a:t>
            </a:r>
            <a:endParaRPr lang="he-IL" sz="1800" dirty="0"/>
          </a:p>
        </p:txBody>
      </p:sp>
      <p:sp>
        <p:nvSpPr>
          <p:cNvPr id="4" name="Shape 2"/>
          <p:cNvSpPr/>
          <p:nvPr/>
        </p:nvSpPr>
        <p:spPr>
          <a:xfrm>
            <a:off x="8097317" y="2377440"/>
            <a:ext cx="3271418" cy="3291840"/>
          </a:xfrm>
          <a:prstGeom prst="roundRect">
            <a:avLst>
              <a:gd name="adj" fmla="val 3913"/>
            </a:avLst>
          </a:prstGeom>
          <a:solidFill>
            <a:srgbClr val="171C24"/>
          </a:solidFill>
          <a:ln w="9525">
            <a:solidFill>
              <a:srgbClr val="2A313C"/>
            </a:solidFill>
            <a:prstDash val="solid"/>
          </a:ln>
        </p:spPr>
      </p:sp>
      <p:sp>
        <p:nvSpPr>
          <p:cNvPr id="5" name="Text 3"/>
          <p:cNvSpPr txBox="1"/>
          <p:nvPr/>
        </p:nvSpPr>
        <p:spPr>
          <a:xfrm>
            <a:off x="8463077" y="2743200"/>
            <a:ext cx="2539898" cy="914400"/>
          </a:xfrm>
          <a:prstGeom prst="rect">
            <a:avLst/>
          </a:prstGeom>
          <a:noFill/>
          <a:ln/>
        </p:spPr>
        <p:txBody>
          <a:bodyPr wrap="square" lIns="0" tIns="0" rIns="0" bIns="0" rtlCol="0" anchor="ctr"/>
          <a:lstStyle/>
          <a:p>
            <a:pPr rtl="1" algn="ctr" indent="0" marL="0">
              <a:buNone/>
            </a:pPr>
            <a:r>
              <a:rPr lang="he-IL" altLang="en-US" sz="4000" b="1" dirty="0">
                <a:solidFill>
                  <a:srgbClr val="D9B78C"/>
                </a:solidFill>
                <a:latin typeface="Arial" pitchFamily="34" charset="0"/>
                <a:ea typeface="Arial" pitchFamily="34" charset="-122"/>
                <a:cs typeface="Arial" pitchFamily="34" charset="-120"/>
              </a:rPr>
              <a:t>כיתה י׳</a:t>
            </a:r>
            <a:endParaRPr lang="he-IL" sz="4000" dirty="0"/>
          </a:p>
        </p:txBody>
      </p:sp>
      <p:sp>
        <p:nvSpPr>
          <p:cNvPr id="6" name="Text 4"/>
          <p:cNvSpPr txBox="1"/>
          <p:nvPr/>
        </p:nvSpPr>
        <p:spPr>
          <a:xfrm>
            <a:off x="8463077" y="3840480"/>
            <a:ext cx="2539898" cy="1554480"/>
          </a:xfrm>
          <a:prstGeom prst="rect">
            <a:avLst/>
          </a:prstGeom>
          <a:noFill/>
          <a:ln/>
        </p:spPr>
        <p:txBody>
          <a:bodyPr wrap="square" lIns="0" tIns="0" rIns="0" bIns="0" rtlCol="0" anchor="t"/>
          <a:lstStyle/>
          <a:p>
            <a:pPr rtl="1" algn="ctr" indent="0" marL="0">
              <a:buNone/>
            </a:pPr>
            <a:r>
              <a:rPr lang="he-IL" altLang="en-US" sz="1700" dirty="0">
                <a:solidFill>
                  <a:srgbClr val="FFFFFF"/>
                </a:solidFill>
                <a:latin typeface="Arial" pitchFamily="34" charset="0"/>
                <a:ea typeface="Arial" pitchFamily="34" charset="-122"/>
                <a:cs typeface="Arial" pitchFamily="34" charset="-120"/>
              </a:rPr>
              <a:t>כשהאשימו אותי – החלטתי לכתוב את הסיפור שלי בעצמי.</a:t>
            </a:r>
            <a:endParaRPr lang="he-IL" sz="1700" dirty="0"/>
          </a:p>
        </p:txBody>
      </p:sp>
      <p:sp>
        <p:nvSpPr>
          <p:cNvPr id="7" name="Shape 5"/>
          <p:cNvSpPr/>
          <p:nvPr/>
        </p:nvSpPr>
        <p:spPr>
          <a:xfrm>
            <a:off x="4460138" y="2377440"/>
            <a:ext cx="3271418" cy="3291840"/>
          </a:xfrm>
          <a:prstGeom prst="roundRect">
            <a:avLst>
              <a:gd name="adj" fmla="val 3913"/>
            </a:avLst>
          </a:prstGeom>
          <a:solidFill>
            <a:srgbClr val="171C24"/>
          </a:solidFill>
          <a:ln w="9525">
            <a:solidFill>
              <a:srgbClr val="2A313C"/>
            </a:solidFill>
            <a:prstDash val="solid"/>
          </a:ln>
        </p:spPr>
      </p:sp>
      <p:sp>
        <p:nvSpPr>
          <p:cNvPr id="8" name="Text 6"/>
          <p:cNvSpPr txBox="1"/>
          <p:nvPr/>
        </p:nvSpPr>
        <p:spPr>
          <a:xfrm>
            <a:off x="4825898" y="2743200"/>
            <a:ext cx="2539898" cy="914400"/>
          </a:xfrm>
          <a:prstGeom prst="rect">
            <a:avLst/>
          </a:prstGeom>
          <a:noFill/>
          <a:ln/>
        </p:spPr>
        <p:txBody>
          <a:bodyPr wrap="square" lIns="0" tIns="0" rIns="0" bIns="0" rtlCol="0" anchor="ctr"/>
          <a:lstStyle/>
          <a:p>
            <a:pPr rtl="1" algn="ctr" indent="0" marL="0">
              <a:buNone/>
            </a:pPr>
            <a:r>
              <a:rPr lang="he-IL" altLang="en-US" sz="4000" b="1" dirty="0">
                <a:solidFill>
                  <a:srgbClr val="D9B78C"/>
                </a:solidFill>
                <a:latin typeface="Arial" pitchFamily="34" charset="0"/>
                <a:ea typeface="Arial" pitchFamily="34" charset="-122"/>
                <a:cs typeface="Arial" pitchFamily="34" charset="-120"/>
              </a:rPr>
              <a:t>7.10</a:t>
            </a:r>
            <a:endParaRPr lang="he-IL" sz="4000" dirty="0"/>
          </a:p>
        </p:txBody>
      </p:sp>
      <p:sp>
        <p:nvSpPr>
          <p:cNvPr id="9" name="Text 7"/>
          <p:cNvSpPr txBox="1"/>
          <p:nvPr/>
        </p:nvSpPr>
        <p:spPr>
          <a:xfrm>
            <a:off x="4825898" y="3840480"/>
            <a:ext cx="2539898" cy="1554480"/>
          </a:xfrm>
          <a:prstGeom prst="rect">
            <a:avLst/>
          </a:prstGeom>
          <a:noFill/>
          <a:ln/>
        </p:spPr>
        <p:txBody>
          <a:bodyPr wrap="square" lIns="0" tIns="0" rIns="0" bIns="0" rtlCol="0" anchor="t"/>
          <a:lstStyle/>
          <a:p>
            <a:pPr rtl="1" algn="ctr" indent="0" marL="0">
              <a:buNone/>
            </a:pPr>
            <a:r>
              <a:rPr lang="he-IL" altLang="en-US" sz="1700" dirty="0">
                <a:solidFill>
                  <a:srgbClr val="FFFFFF"/>
                </a:solidFill>
                <a:latin typeface="Arial" pitchFamily="34" charset="0"/>
                <a:ea typeface="Arial" pitchFamily="34" charset="-122"/>
                <a:cs typeface="Arial" pitchFamily="34" charset="-120"/>
              </a:rPr>
              <a:t>כשנפצעתי – החלטתי לתפקד ולהמשיך.</a:t>
            </a:r>
            <a:endParaRPr lang="he-IL" sz="1700" dirty="0"/>
          </a:p>
        </p:txBody>
      </p:sp>
      <p:sp>
        <p:nvSpPr>
          <p:cNvPr id="10" name="Shape 8"/>
          <p:cNvSpPr/>
          <p:nvPr/>
        </p:nvSpPr>
        <p:spPr>
          <a:xfrm>
            <a:off x="822960" y="2377440"/>
            <a:ext cx="3271418" cy="3291840"/>
          </a:xfrm>
          <a:prstGeom prst="roundRect">
            <a:avLst>
              <a:gd name="adj" fmla="val 3913"/>
            </a:avLst>
          </a:prstGeom>
          <a:solidFill>
            <a:srgbClr val="171C24"/>
          </a:solidFill>
          <a:ln w="9525">
            <a:solidFill>
              <a:srgbClr val="2A313C"/>
            </a:solidFill>
            <a:prstDash val="solid"/>
          </a:ln>
        </p:spPr>
      </p:sp>
      <p:sp>
        <p:nvSpPr>
          <p:cNvPr id="11" name="Text 9"/>
          <p:cNvSpPr txBox="1"/>
          <p:nvPr/>
        </p:nvSpPr>
        <p:spPr>
          <a:xfrm>
            <a:off x="1188720" y="2743200"/>
            <a:ext cx="2539898" cy="914400"/>
          </a:xfrm>
          <a:prstGeom prst="rect">
            <a:avLst/>
          </a:prstGeom>
          <a:noFill/>
          <a:ln/>
        </p:spPr>
        <p:txBody>
          <a:bodyPr wrap="square" lIns="0" tIns="0" rIns="0" bIns="0" rtlCol="0" anchor="ctr"/>
          <a:lstStyle/>
          <a:p>
            <a:pPr rtl="1" algn="ctr" indent="0" marL="0">
              <a:buNone/>
            </a:pPr>
            <a:r>
              <a:rPr lang="he-IL" altLang="en-US" sz="4000" b="1" dirty="0">
                <a:solidFill>
                  <a:srgbClr val="D9B78C"/>
                </a:solidFill>
                <a:latin typeface="Arial" pitchFamily="34" charset="0"/>
                <a:ea typeface="Arial" pitchFamily="34" charset="-122"/>
                <a:cs typeface="Arial" pitchFamily="34" charset="-120"/>
              </a:rPr>
              <a:t>היום</a:t>
            </a:r>
            <a:endParaRPr lang="he-IL" sz="4000" dirty="0"/>
          </a:p>
        </p:txBody>
      </p:sp>
      <p:sp>
        <p:nvSpPr>
          <p:cNvPr id="12" name="Text 10"/>
          <p:cNvSpPr txBox="1"/>
          <p:nvPr/>
        </p:nvSpPr>
        <p:spPr>
          <a:xfrm>
            <a:off x="1188720" y="3840480"/>
            <a:ext cx="2539898" cy="1554480"/>
          </a:xfrm>
          <a:prstGeom prst="rect">
            <a:avLst/>
          </a:prstGeom>
          <a:noFill/>
          <a:ln/>
        </p:spPr>
        <p:txBody>
          <a:bodyPr wrap="square" lIns="0" tIns="0" rIns="0" bIns="0" rtlCol="0" anchor="t"/>
          <a:lstStyle/>
          <a:p>
            <a:pPr rtl="1" algn="ctr" indent="0" marL="0">
              <a:buNone/>
            </a:pPr>
            <a:r>
              <a:rPr lang="he-IL" altLang="en-US" sz="1700" dirty="0">
                <a:solidFill>
                  <a:srgbClr val="FFFFFF"/>
                </a:solidFill>
                <a:latin typeface="Arial" pitchFamily="34" charset="0"/>
                <a:ea typeface="Arial" pitchFamily="34" charset="-122"/>
                <a:cs typeface="Arial" pitchFamily="34" charset="-120"/>
              </a:rPr>
              <a:t>כשהחיים לא חזרו למה שהיו – החלטתי לבנות אותם מחדש.</a:t>
            </a:r>
            <a:endParaRPr lang="he-IL" sz="1700" dirty="0"/>
          </a:p>
        </p:txBody>
      </p:sp>
      <p:sp>
        <p:nvSpPr>
          <p:cNvPr id="13" name="Text 11"/>
          <p:cNvSpPr txBox="1"/>
          <p:nvPr/>
        </p:nvSpPr>
        <p:spPr>
          <a:xfrm>
            <a:off x="457200" y="6309360"/>
            <a:ext cx="548640" cy="274320"/>
          </a:xfrm>
          <a:prstGeom prst="rect">
            <a:avLst/>
          </a:prstGeom>
          <a:noFill/>
          <a:ln/>
        </p:spPr>
        <p:txBody>
          <a:bodyPr wrap="square" lIns="0" tIns="0" rIns="0" bIns="0" rtlCol="0" anchor="t"/>
          <a:lstStyle/>
          <a:p>
            <a:pPr rtl="1" algn="l" indent="0" marL="0">
              <a:buNone/>
            </a:pPr>
            <a:r>
              <a:rPr lang="he-IL" altLang="en-US" sz="1000" dirty="0">
                <a:solidFill>
                  <a:srgbClr val="A7ADB8"/>
                </a:solidFill>
                <a:latin typeface="Arial" pitchFamily="34" charset="0"/>
                <a:ea typeface="Arial" pitchFamily="34" charset="-122"/>
                <a:cs typeface="Arial" pitchFamily="34" charset="-120"/>
              </a:rPr>
              <a:t>27</a:t>
            </a:r>
            <a:endParaRPr lang="he-IL"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9B78C"/>
        </a:solidFill>
      </p:bgPr>
    </p:bg>
    <p:spTree>
      <p:nvGrpSpPr>
        <p:cNvPr id="1" name=""/>
        <p:cNvGrpSpPr/>
        <p:nvPr/>
      </p:nvGrpSpPr>
      <p:grpSpPr>
        <a:xfrm>
          <a:off x="0" y="0"/>
          <a:ext cx="0" cy="0"/>
          <a:chOff x="0" y="0"/>
          <a:chExt cx="0" cy="0"/>
        </a:xfrm>
      </p:grpSpPr>
      <p:sp>
        <p:nvSpPr>
          <p:cNvPr id="2" name="Text 0"/>
          <p:cNvSpPr txBox="1"/>
          <p:nvPr/>
        </p:nvSpPr>
        <p:spPr>
          <a:xfrm>
            <a:off x="914400" y="1828800"/>
            <a:ext cx="10362895" cy="914400"/>
          </a:xfrm>
          <a:prstGeom prst="rect">
            <a:avLst/>
          </a:prstGeom>
          <a:noFill/>
          <a:ln/>
        </p:spPr>
        <p:txBody>
          <a:bodyPr wrap="square" lIns="0" tIns="0" rIns="0" bIns="0" rtlCol="0" anchor="t"/>
          <a:lstStyle/>
          <a:p>
            <a:pPr rtl="1" algn="ctr" indent="0" marL="0">
              <a:buNone/>
            </a:pPr>
            <a:r>
              <a:rPr lang="he-IL" altLang="en-US" sz="3600" b="1" dirty="0">
                <a:solidFill>
                  <a:srgbClr val="5A4A30"/>
                </a:solidFill>
                <a:latin typeface="Arial" pitchFamily="34" charset="0"/>
                <a:ea typeface="Arial" pitchFamily="34" charset="-122"/>
                <a:cs typeface="Arial" pitchFamily="34" charset="-120"/>
              </a:rPr>
              <a:t>לא תמיד אנחנו בוחרים את מה שקורה לנו.</a:t>
            </a:r>
            <a:endParaRPr lang="he-IL" sz="3600" dirty="0"/>
          </a:p>
        </p:txBody>
      </p:sp>
      <p:sp>
        <p:nvSpPr>
          <p:cNvPr id="3" name="Text 1"/>
          <p:cNvSpPr txBox="1"/>
          <p:nvPr/>
        </p:nvSpPr>
        <p:spPr>
          <a:xfrm>
            <a:off x="914400" y="2834640"/>
            <a:ext cx="10362895" cy="1188720"/>
          </a:xfrm>
          <a:prstGeom prst="rect">
            <a:avLst/>
          </a:prstGeom>
          <a:noFill/>
          <a:ln/>
        </p:spPr>
        <p:txBody>
          <a:bodyPr wrap="square" lIns="0" tIns="0" rIns="0" bIns="0" rtlCol="0" anchor="t"/>
          <a:lstStyle/>
          <a:p>
            <a:pPr rtl="1" algn="ctr" indent="0" marL="0">
              <a:buNone/>
            </a:pPr>
            <a:r>
              <a:rPr lang="he-IL" altLang="en-US" sz="4600" b="1" dirty="0">
                <a:solidFill>
                  <a:srgbClr val="0E1116"/>
                </a:solidFill>
                <a:latin typeface="Arial" pitchFamily="34" charset="0"/>
                <a:ea typeface="Arial" pitchFamily="34" charset="-122"/>
                <a:cs typeface="Arial" pitchFamily="34" charset="-120"/>
              </a:rPr>
              <a:t>אבל אנחנו כן בוחרים מה אנחנו עושים מכאן.</a:t>
            </a:r>
            <a:endParaRPr lang="he-IL" sz="4600" dirty="0"/>
          </a:p>
        </p:txBody>
      </p:sp>
      <p:sp>
        <p:nvSpPr>
          <p:cNvPr id="4" name="Text 2"/>
          <p:cNvSpPr txBox="1"/>
          <p:nvPr/>
        </p:nvSpPr>
        <p:spPr>
          <a:xfrm>
            <a:off x="914400" y="4754880"/>
            <a:ext cx="10362895" cy="731520"/>
          </a:xfrm>
          <a:prstGeom prst="rect">
            <a:avLst/>
          </a:prstGeom>
          <a:noFill/>
          <a:ln/>
        </p:spPr>
        <p:txBody>
          <a:bodyPr wrap="square" lIns="0" tIns="0" rIns="0" bIns="0" rtlCol="0" anchor="t"/>
          <a:lstStyle/>
          <a:p>
            <a:pPr rtl="1" algn="ctr" indent="0" marL="0">
              <a:buNone/>
            </a:pPr>
            <a:r>
              <a:rPr lang="he-IL" altLang="en-US" sz="2800" b="1" dirty="0">
                <a:solidFill>
                  <a:srgbClr val="0E1116"/>
                </a:solidFill>
                <a:latin typeface="Arial" pitchFamily="34" charset="0"/>
                <a:ea typeface="Arial" pitchFamily="34" charset="-122"/>
                <a:cs typeface="Arial" pitchFamily="34" charset="-120"/>
              </a:rPr>
              <a:t>תודה.</a:t>
            </a:r>
            <a:endParaRPr lang="he-IL" sz="2800" dirty="0"/>
          </a:p>
        </p:txBody>
      </p:sp>
      <p:sp>
        <p:nvSpPr>
          <p:cNvPr id="5" name="Text 3"/>
          <p:cNvSpPr txBox="1"/>
          <p:nvPr/>
        </p:nvSpPr>
        <p:spPr>
          <a:xfrm>
            <a:off x="914400" y="5577840"/>
            <a:ext cx="10362895" cy="457200"/>
          </a:xfrm>
          <a:prstGeom prst="rect">
            <a:avLst/>
          </a:prstGeom>
          <a:noFill/>
          <a:ln/>
        </p:spPr>
        <p:txBody>
          <a:bodyPr wrap="square" lIns="0" tIns="0" rIns="0" bIns="0" rtlCol="0" anchor="t"/>
          <a:lstStyle/>
          <a:p>
            <a:pPr rtl="1" algn="ctr" indent="0" marL="0">
              <a:buNone/>
            </a:pPr>
            <a:r>
              <a:rPr lang="he-IL" altLang="en-US" sz="1400" dirty="0">
                <a:solidFill>
                  <a:srgbClr val="5A4A30"/>
                </a:solidFill>
                <a:latin typeface="Arial" pitchFamily="34" charset="0"/>
                <a:ea typeface="Arial" pitchFamily="34" charset="-122"/>
                <a:cs typeface="Arial" pitchFamily="34" charset="-120"/>
              </a:rPr>
              <a:t>חנוך  |  054-5522053  |  Instagram: hanoch234</a:t>
            </a:r>
            <a:endParaRPr lang="he-IL"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7.10 – הסיפור שלי</dc:title>
  <dc:subject>PptxGenJS Presentation</dc:subject>
  <dc:creator>חנוך</dc:creator>
  <cp:lastModifiedBy>חנוך</cp:lastModifiedBy>
  <cp:revision>1</cp:revision>
  <dcterms:created xsi:type="dcterms:W3CDTF">2026-09-26T12:58:55Z</dcterms:created>
  <dcterms:modified xsi:type="dcterms:W3CDTF">2026-09-26T12:58:55Z</dcterms:modified>
</cp:coreProperties>
</file>