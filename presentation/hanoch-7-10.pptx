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tl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פתיחה. לא מדברים עליו. הוא נשאר על המסך כשהקהל נכנס.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פתיחה – 3 דקות. לא מתחילים בילדות. לא מתחילים ב־7 באוקטובר. מתחילים מהרגע שבו הקהל כבר בתוך הסיפור. להגיד את המשפט. ואז לעצור. לא להסביר עדיין. המטרה: ליצור סקרנות.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מי הייתי לפני הכול – 7 דקות. לבחור 3–4 רגעים בלבד שהסבירו מי היית. הקהל צריך להבין שאתה לא 'הגיבור שנולד גיבור'.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אני חנוך, בן 24, מיישובי גדרות. ילדות מושבניקית. אח בכור לארבעה. הרבה סימני שאלה – לא ילד שידעו לאן הוא הולך. (להוסיף פרט אחד קטן ומצחיק מהילדות שמחבר את הקהל.)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מהגן הגדירו אותי כ'ילד בעייתי' והייתי מסתבך הרבה. לתת דוגמה אחת קונקרטית – אירוע אחד, לא רשימה.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אירוע אחד בכיתה י' ששינה לי את כל התפיסה. האשימו אותי בבית הספר בסחר בסמים ולא היה לי שום קשר לזה. בסוף השיחה הם האמינו לי – אבל זה השאיר בי חותם: שיכולים לחשוד בי בדבר כל כך חמור. זו הפעם הראשונה שהחלטתי לקחת את ההחלטות בחיים שלי בעצמי. מאותו רגע: חיפוש שנת שירות איכותית, שאיפה לשירות קרבי משמעותי.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המסר של הפרק. לעצור עליו רגע. הקהל צריך להבין: לא הגיבור שנולד גיבור – נער עם הרבה סימני שאלה.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הבחירה – 7 דקות. המעבר לסיירת נח״ל. לא להפוך את זה ל'סיפור צבאי'. הנושא: הפעם הראשונה שבה בחרת מי אתה רוצה להיות.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השירות בקצרה: שנת שירות ב'שומר החדש' – גרעין נח״ל, משם הגעתי לסיירת – מסלול של שנה וחודשיים. עליתי לקו יקיר, אחר כך אימון חורף, מבצע 'בית וגן' בג'נין, ואז עלינו לקו עזה. (לספר בעל פה: למה רציתי להגיע לסיירת – אוהב אתגרים, להוכיח לעצמי; המחיר – קושי פיזי ומנטלי וקשיים בבית; מה הצבא לימד אותי – שהכול בראש ושתמיד אפשר להשתפר. מוטיבציה מביאה אותך להתחלה, משמעת מביאה אותך לסוף.)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קליין – תמיד דחף אותנו למצוינות ומקצועיות, לעשות דברים כמו שצריך ועד הסוף. עד היום אני במשטר אימונים בגלל המסגרת שהוא הכניס אותנו אליה. ברנש (יונתן צור) – הגיע משלדג, פיקד בתפקידים רבים, עטור שבחים. ובכל זאת קודם כל היה אדם: ידע שמות, התייעץ איתנו, דיבר איתנו בשיח חברי. התמונה: לחיצת יד בטקס סוף המסלול. השיעור: אפשר להיות הכי טוב ועדיין להישאר בן אדם.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באוקטובר – 15 דקות. הלב הרגשי של ההרצאה, אבל לא כל ההרצאה. לספר כמו סרט. לא רק מה קרה – מה חשבת בכל שלב.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להסביר את המבנה בשלושה משפטים: סיירת נח״ל תפסה את הגזרה הדרומית. שני מוצבים – כרם שלום (פלחה״ן) וסופה (פלוגת נ״ט). הפלס״ר, הפלוגה שלי, הייתה מחולקת בין שניהם. כל מוצב מחולק למשימות, והמשימה שלנו הייתה צוות עתודה – זמין לכל אירוע. משמרות: כל בוקר 05:30 וכל ערב 18:30. ומכאן – לשקף הבא: ערב חג.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רגע לפני שמספרים על קו עזה: להסביר בעל פה מה זה נגמ״ש – נושא גייסות משוריין, כבד, הצוות בפנים, המפקד והמקלען למעלה. הקהל צריך לדעת מה הכלי הזה כדי להבין את מה שיקרה לו בהמשך.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בעל פה, לפני השקף: ערב 6.10, ערב חג – ארוחת חג, אימון, והלכתי לישון. (על צוות העתודה והכוננות – כבר סופר בתרשים.) ואז: ב-05:30 קמתי למשמרת בוקר. התמונה מהבוקר הזה. משפט על הבוקר – רגיל, שקט. ואז השקף הבא: 06:29.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06:29 – מטח רקטות. הסרטון (17 שניות) מתחיל בלחיצה. להגיד: קמתי למשמרת, ובשש עשרים ותשע – ללחוץ. אחרי הסרטון עוברים להקלטת הקשר של הסמג״ד.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הקלטת קשר, 9 שניות: הסמג״ד עידו שני מכריז על מלחמה, 06:45. ההקלטה מתנגנת בלחיצה. להשמיע, לשתוק, ואז: ובדיוק אז, מהצד השני של הכביש –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הסרטון על כל המסך, מתחיל בלחיצה. לספר: עליתי למשמרת בוקר, בוקר רגיל – ובדיוק ברגע הזה ללחוץ. מצלמת הגוף של המחבלים מגיעים לנקודה שבמפה ויורים נ״ט על הנגמ״ש. לא לדבר מעליו 20–30 שניות. אחר כך: ואני עוד לא ידעתי כלום.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מיד אחרי הסרטון: להסביר מה הם ראו. איפה המוצב, איפה הקיבוץ, מאיפה הגיעו המחבלים (הנקודה האדומה), ואיפה הנגמ״ש שהם ירו עליו. שני משפטים – הקהל צריך רק להבין את המרחב.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הסרטון מתחיל בלחיצה עליו (לא אוטומטית), כדי שתשלוט מתי. להגיד קודם: אני לא הייתי שם – ואז להפעיל. אחרי הסרטון: משפט אחד על מה שזה עשה לך לראות את זה אחר כך.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הרגע של הפציעה. לעצור אחרי 'הדבר היחיד שעבר לי בראש היה…' – שנייה של שקט – ואז: תמיד אמרו לנו שמי שלא מתפקד מקבל פוסט טראומה. אז תפקדתי. זו ההחלטה השנייה – אותה החלטה מכיתה י': לפעול, לא לתת לדברים לקרות לי.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הקלטת קשר, 7 שניות: חכים, מפקד כוח האכזרית, מבקש פינוי ב-07:45 – בדיוק שעה אחרי שהסמג״ד הכריז על מלחמה. להגיד את זה: שעה. כל מה שסיפרתי עכשיו קרה בתוך שעה אחת.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יום אחרי הקרב. התמונה צולמה מהנקודה שממנה ירו עלינו. לתת לקהל להסתכל. משפט אחד: ככה זה נראה מהצד שלהם.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הקלטת קשר, 20 שניות: דקות אחרי הבקשה של חכים, כל הכוחות באזור עולים לקשר ומבקשים פינוי אחד מהשני. להשמיע עד הסוף. אחר כך משפט אחד: זה הרגע שבו הבנתי שאף אחד לא בא.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הקלטת קשר, 07:50: קליין נותן פקודה שמאפסת אותנו. חמש דקות אחרי שכולם מבקשים פינוי – קול אחד ברור. לחבר לשקף המפקדים: זו המסגרת שהוא הכניס אותנו אליה.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תמונה מרגע הפינוי, מתוך הרכב שהגיע. לא להסביר הרבה – להגיד מי צילם ומאיפה, ומה הרגשת כשסוף סוף הגיע מישהו.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סורוקה, שעתיים אחרי הפינוי. התמונה + ההודעה הקולית ששלחתי לכולם. להשמיע. הקהל שומע 'אני בסדר גמור' – ואתה כבר יודע שזה לא היה נכון. משפט אחד אחרי: באותו רגע חשבתי שהחלק הקשה נגמר. ואז הנגמ״ש יום אחרי, ואז הטוויסט.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הטוויסט של ההרצאה. הקהל מצפה שהשיא היה 7 באוקטובר – ואתה אומר: הקרב היה החלק הקל. מכאן ההרצאה עוברת מסיפור מלחמה לסיפור חיים.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ואז הכול נגמר – 8 דקות.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מעל 19 חברים באותו יום, ועוד כמעט עשרה במהלך המלחמה. זה הדבר שהיה לי הכי קשה אחרי השביעי – לא הפציעה. הדברים שהם לא יספיקו לעשות, והמשפחות השכולות. (אפשר להגיד שם אחד או שניים. לעצור. לא למהר לשקף הבא.)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הפציעה – יד (חוסם עורקים) ועין (רסיס). השיקום – ארוך ומתיש, לבד רוב הזמן, בלי משככי כאבים, 3 חודשים בתל השומר. (לא להיכנס לסיבה – זה אישי ולא חלק מההרצאה.) האובדן. החיים שאחרי – המעבר המהיר בין לוחם לפצוע לאזרח. כאן ההרצאה עוברת מסיפור מלחמה לסיפור חיים.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שקף אחד על כל המסע מאז – ממש בקצרה. משפט על כל תמונה, לא יותר. טיולים: הריטריט בפנמה שבו פגשתי אנשים טובים וראיתי שבאמת קיימים כאלה – משם התחלתי לחזור לאנשים. סוסים. טיפוס. סנפלינג. הרצאות.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מה עושים כשהחיים לא חוזרים להיות מה שהיו – 10 דקות. החלק החדש. עליו הדגש.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עיקרון 1 – אתה לא שולט במה שקורה לך, אבל אתה כן שולט במה שאתה עושה עם זה. עיקרון 2 – לא חייבים לדעת את כל הדרך. רק את הצעד הבא. עיקרון 3 – זהות לא מקבלים. בונים. לכל עיקרון: דוגמה אחת מהחיים שלך מאז הפציעה.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להפוך כאב למשהו – 7 דקות.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לימודים, עבודה, הרצאות, מטרות, בניית עתיד, הרצון להתפתח. המסר: לא תמיד אפשר לבחור את הסיפור שקיבלת. אפשר לבחור מה אתה עושה איתו.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הסיום – 3 דקות. חוזרים למשפט מהפתיחה.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כאן סוגרים את המעגל מהפתיחה: 'ההחלטה' לא הייתה רק להמשיך להילחם. ההחלטה הייתה לקחת החלטות ולפעול בחיים של עצמי – כמו שעשיתי כילד, כמו שעשיתי בקרב, כמו שאני עושה היום.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המשפט האחרון. לעצור. לא להוסיף כלום אחריו. הקהל מצלם את ה-QR.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jpg"/><Relationship Id="rId3" Type="http://schemas.openxmlformats.org/officeDocument/2006/relationships/image" Target="../media/image-9-3.jpg"/><Relationship Id="rId4" Type="http://schemas.openxmlformats.org/officeDocument/2006/relationships/image" Target="../media/image-9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6-1.mp4"/><Relationship Id="rId2" Type="http://schemas.microsoft.com/office/2007/relationships/media" Target="../media/media-16-1.mp4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7-1.mp4"/><Relationship Id="rId2" Type="http://schemas.microsoft.com/office/2007/relationships/media" Target="../media/media-17-1.mp4"/><Relationship Id="rId3" Type="http://schemas.openxmlformats.org/officeDocument/2006/relationships/image" Target="../media/image-1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video" Target="../media/media-19-1.mp4"/><Relationship Id="rId2" Type="http://schemas.microsoft.com/office/2007/relationships/media" Target="../media/media-19-1.mp4"/><Relationship Id="rId3" Type="http://schemas.openxmlformats.org/officeDocument/2006/relationships/image" Target="../media/image-1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1-1.mp4"/><Relationship Id="rId2" Type="http://schemas.microsoft.com/office/2007/relationships/media" Target="../media/media-21-1.mp4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3-1.mp4"/><Relationship Id="rId2" Type="http://schemas.microsoft.com/office/2007/relationships/media" Target="../media/media-23-1.mp4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video" Target="../media/media-24-1.mp4"/><Relationship Id="rId2" Type="http://schemas.microsoft.com/office/2007/relationships/media" Target="../media/media-24-1.mp4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video" Target="../media/media-26-2.mp4"/><Relationship Id="rId3" Type="http://schemas.microsoft.com/office/2007/relationships/media" Target="../media/media-26-2.mp4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image" Target="../media/image-31-4.jpg"/><Relationship Id="rId5" Type="http://schemas.openxmlformats.org/officeDocument/2006/relationships/image" Target="../media/image-31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/tmp/claude-0/-home-user-desktop-tutorial/9088daa5-d593-5866-a256-1b36570fb83b/scratchpad/photos/cover-composi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698500" y="4000500"/>
            <a:ext cx="4953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9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7.10</a:t>
            </a:r>
            <a:endParaRPr lang="he-IL" sz="9000" dirty="0"/>
          </a:p>
        </p:txBody>
      </p:sp>
      <p:sp>
        <p:nvSpPr>
          <p:cNvPr id="5" name="Text 1"/>
          <p:cNvSpPr txBox="1"/>
          <p:nvPr/>
        </p:nvSpPr>
        <p:spPr>
          <a:xfrm>
            <a:off x="698500" y="5245100"/>
            <a:ext cx="4953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הסיפור שלי</a:t>
            </a:r>
            <a:endParaRPr lang="he-IL" sz="4000" dirty="0"/>
          </a:p>
        </p:txBody>
      </p:sp>
      <p:sp>
        <p:nvSpPr>
          <p:cNvPr id="6" name="Shape 2"/>
          <p:cNvSpPr/>
          <p:nvPr/>
        </p:nvSpPr>
        <p:spPr>
          <a:xfrm>
            <a:off x="5194300" y="5930900"/>
            <a:ext cx="4572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698500" y="6096000"/>
            <a:ext cx="4953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חנוך  |  לוחם סיירת נח״ל, פצוע 7 באוקטובר</a:t>
            </a:r>
            <a:endParaRPr lang="he-IL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550650" y="6832600"/>
            <a:ext cx="6413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0617200" y="1841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12800" y="2095500"/>
            <a:ext cx="10566400" cy="304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5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ב־7 באוקטובר</a:t>
            </a:r>
            <a:endParaRPr lang="he-IL" sz="5500" dirty="0"/>
          </a:p>
          <a:p>
            <a:pPr rtl="1" algn="r" indent="0" marL="0">
              <a:buNone/>
            </a:pPr>
            <a:r>
              <a:rPr lang="he-IL" altLang="en-US" sz="5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קיבלתי החלטה</a:t>
            </a:r>
            <a:endParaRPr lang="he-IL" sz="5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1226800" y="6832600"/>
            <a:ext cx="9652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he-IL" sz="20000" dirty="0"/>
          </a:p>
        </p:txBody>
      </p:sp>
      <p:sp>
        <p:nvSpPr>
          <p:cNvPr id="7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2616200"/>
            <a:ext cx="965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01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3048000"/>
            <a:ext cx="105664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הייתי לפני הכול</a:t>
            </a:r>
            <a:endParaRPr lang="he-IL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מי הייתי לפני הכול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909300" y="6832600"/>
            <a:ext cx="12827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4064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3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חנוך, בן 24, מיישובי גדרות</a:t>
            </a:r>
            <a:endParaRPr lang="he-IL" sz="3200" dirty="0"/>
          </a:p>
        </p:txBody>
      </p:sp>
      <p:pic>
        <p:nvPicPr>
          <p:cNvPr id="9" name="Image 0" descr="/tmp/claude-0/-home-user-desktop-tutorial/9088daa5-d593-5866-a256-1b36570fb83b/scratchpad/photos/02-childhoo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286250" y="1155700"/>
            <a:ext cx="3619500" cy="5270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מי הייתי לפני הכול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585450" y="6832600"/>
            <a:ext cx="16065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03-ki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4064000" cy="5232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283200" y="1587500"/>
            <a:ext cx="6096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70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״ילד בעייתי״</a:t>
            </a:r>
            <a:endParaRPr lang="he-IL" sz="7000" dirty="0"/>
          </a:p>
        </p:txBody>
      </p:sp>
      <p:sp>
        <p:nvSpPr>
          <p:cNvPr id="10" name="Text 6"/>
          <p:cNvSpPr txBox="1"/>
          <p:nvPr/>
        </p:nvSpPr>
        <p:spPr>
          <a:xfrm>
            <a:off x="5283200" y="3175000"/>
            <a:ext cx="60960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0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ככה הגדירו אותי כבר מהגן. ומאז – הסתבכתי הרבה.</a:t>
            </a:r>
            <a:endParaRPr lang="he-IL" sz="2000" dirty="0"/>
          </a:p>
        </p:txBody>
      </p:sp>
      <p:sp>
        <p:nvSpPr>
          <p:cNvPr id="11" name="Text 7"/>
          <p:cNvSpPr txBox="1"/>
          <p:nvPr/>
        </p:nvSpPr>
        <p:spPr>
          <a:xfrm>
            <a:off x="5283200" y="4127500"/>
            <a:ext cx="60960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כשאומרים לך משהו מספיק פעמים, אתה מתחיל להאמין לזה.</a:t>
            </a:r>
            <a:endParaRPr lang="he-IL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מי הייתי לפני הכול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0267950" y="6832600"/>
            <a:ext cx="19240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4699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כיתה י׳: הרגע שבו הכול התהפך</a:t>
            </a:r>
            <a:endParaRPr lang="he-IL" sz="3200" dirty="0"/>
          </a:p>
        </p:txBody>
      </p:sp>
      <p:sp>
        <p:nvSpPr>
          <p:cNvPr id="10" name="Shape 7"/>
          <p:cNvSpPr/>
          <p:nvPr/>
        </p:nvSpPr>
        <p:spPr>
          <a:xfrm>
            <a:off x="812800" y="1689100"/>
            <a:ext cx="4572000" cy="4152900"/>
          </a:xfrm>
          <a:prstGeom prst="roundRect">
            <a:avLst>
              <a:gd name="adj" fmla="val 3670"/>
            </a:avLst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168400" y="1905000"/>
            <a:ext cx="3810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55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”</a:t>
            </a:r>
            <a:endParaRPr lang="he-IL" sz="5500" dirty="0"/>
          </a:p>
        </p:txBody>
      </p:sp>
      <p:sp>
        <p:nvSpPr>
          <p:cNvPr id="12" name="Text 9"/>
          <p:cNvSpPr txBox="1"/>
          <p:nvPr/>
        </p:nvSpPr>
        <p:spPr>
          <a:xfrm>
            <a:off x="1168400" y="2984500"/>
            <a:ext cx="38608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״לא היה לי שום קשר לזה.״</a:t>
            </a:r>
            <a:endParaRPr lang="he-IL" sz="2400" dirty="0"/>
          </a:p>
        </p:txBody>
      </p:sp>
      <p:sp>
        <p:nvSpPr>
          <p:cNvPr id="13" name="Text 10"/>
          <p:cNvSpPr txBox="1"/>
          <p:nvPr/>
        </p:nvSpPr>
        <p:spPr>
          <a:xfrm>
            <a:off x="1168400" y="3873500"/>
            <a:ext cx="38608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והבנתי: אם אני לא אכתוב את הסיפור שלי – מישהו אחר יכתוב אותו בשבילי.</a:t>
            </a:r>
            <a:endParaRPr lang="he-IL" sz="1300" dirty="0"/>
          </a:p>
        </p:txBody>
      </p:sp>
      <p:sp>
        <p:nvSpPr>
          <p:cNvPr id="14" name="Shape 11"/>
          <p:cNvSpPr/>
          <p:nvPr/>
        </p:nvSpPr>
        <p:spPr>
          <a:xfrm>
            <a:off x="11125200" y="2254250"/>
            <a:ext cx="254000" cy="2540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5791200" y="2127250"/>
            <a:ext cx="5156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ההאשמה</a:t>
            </a:r>
            <a:endParaRPr lang="he-IL" sz="2400" dirty="0"/>
          </a:p>
        </p:txBody>
      </p:sp>
      <p:sp>
        <p:nvSpPr>
          <p:cNvPr id="16" name="Shape 13"/>
          <p:cNvSpPr/>
          <p:nvPr/>
        </p:nvSpPr>
        <p:spPr>
          <a:xfrm>
            <a:off x="11125200" y="3638550"/>
            <a:ext cx="254000" cy="2540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5791200" y="3511550"/>
            <a:ext cx="5156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ההבנה</a:t>
            </a:r>
            <a:endParaRPr lang="he-IL" sz="2400" dirty="0"/>
          </a:p>
        </p:txBody>
      </p:sp>
      <p:sp>
        <p:nvSpPr>
          <p:cNvPr id="18" name="Shape 15"/>
          <p:cNvSpPr/>
          <p:nvPr/>
        </p:nvSpPr>
        <p:spPr>
          <a:xfrm>
            <a:off x="11125200" y="5022850"/>
            <a:ext cx="254000" cy="2540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791200" y="4895850"/>
            <a:ext cx="51562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ההחלטה</a:t>
            </a:r>
            <a:endParaRPr lang="he-IL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מי הייתי לפני הכול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944100" y="6832600"/>
            <a:ext cx="22479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841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2095500"/>
            <a:ext cx="105664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4400" b="1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העבר שלך מסביר אותך</a:t>
            </a:r>
            <a:endParaRPr lang="he-IL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812800" y="31750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48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הוא לא חייב להגדיר אותך</a:t>
            </a:r>
            <a:endParaRPr lang="he-IL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9626600" y="6832600"/>
            <a:ext cx="25654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he-IL" sz="20000" dirty="0"/>
          </a:p>
        </p:txBody>
      </p:sp>
      <p:pic>
        <p:nvPicPr>
          <p:cNvPr id="7" name="Image 0" descr="/tmp/claude-0/-home-user-desktop-tutorial/9088daa5-d593-5866-a256-1b36570fb83b/scratchpad/nahal-san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2317750"/>
            <a:ext cx="4064000" cy="222885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283200" y="2616200"/>
            <a:ext cx="5181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02</a:t>
            </a:r>
            <a:endParaRPr lang="he-IL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283200" y="3048000"/>
            <a:ext cx="6096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הבחירה</a:t>
            </a:r>
            <a:endParaRPr lang="he-IL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הבחירה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302750" y="6832600"/>
            <a:ext cx="28892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444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445000" y="812800"/>
            <a:ext cx="6934200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השירות הצבאי</a:t>
            </a:r>
            <a:endParaRPr lang="he-IL" sz="3000" dirty="0"/>
          </a:p>
        </p:txBody>
      </p:sp>
      <p:pic>
        <p:nvPicPr>
          <p:cNvPr id="10" name="Image 0" descr="/tmp/claude-0/-home-user-desktop-tutorial/9088daa5-d593-5866-a256-1b36570fb83b/scratchpad/nahal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1651000" cy="90805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555750" y="1987550"/>
            <a:ext cx="90805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10541000" y="1905000"/>
            <a:ext cx="190500" cy="1905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98933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שנת שירות ב״שומר החדש״ – גרעין נח״ל</a:t>
            </a:r>
            <a:endParaRPr lang="he-IL" sz="1300" dirty="0"/>
          </a:p>
        </p:txBody>
      </p:sp>
      <p:sp>
        <p:nvSpPr>
          <p:cNvPr id="14" name="Shape 10"/>
          <p:cNvSpPr/>
          <p:nvPr/>
        </p:nvSpPr>
        <p:spPr>
          <a:xfrm>
            <a:off x="8724900" y="1905000"/>
            <a:ext cx="190500" cy="1905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9575800" y="1905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he-IL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80772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בסיירת נח״ל</a:t>
            </a:r>
            <a:endParaRPr lang="he-IL" sz="1300" dirty="0"/>
          </a:p>
        </p:txBody>
      </p:sp>
      <p:sp>
        <p:nvSpPr>
          <p:cNvPr id="17" name="Shape 13"/>
          <p:cNvSpPr/>
          <p:nvPr/>
        </p:nvSpPr>
        <p:spPr>
          <a:xfrm>
            <a:off x="6908800" y="1905000"/>
            <a:ext cx="190500" cy="1905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59700" y="1905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he-IL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62611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 יקיר</a:t>
            </a:r>
            <a:endParaRPr lang="he-IL" sz="1300" dirty="0"/>
          </a:p>
        </p:txBody>
      </p:sp>
      <p:sp>
        <p:nvSpPr>
          <p:cNvPr id="20" name="Shape 16"/>
          <p:cNvSpPr/>
          <p:nvPr/>
        </p:nvSpPr>
        <p:spPr>
          <a:xfrm>
            <a:off x="5092700" y="1905000"/>
            <a:ext cx="190500" cy="1905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943600" y="1905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he-IL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44450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אימון חורף</a:t>
            </a:r>
            <a:endParaRPr lang="he-IL" sz="1300" dirty="0"/>
          </a:p>
        </p:txBody>
      </p:sp>
      <p:sp>
        <p:nvSpPr>
          <p:cNvPr id="23" name="Shape 19"/>
          <p:cNvSpPr/>
          <p:nvPr/>
        </p:nvSpPr>
        <p:spPr>
          <a:xfrm>
            <a:off x="3276600" y="1905000"/>
            <a:ext cx="190500" cy="1905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4127500" y="1905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he-IL" sz="1500" dirty="0"/>
          </a:p>
        </p:txBody>
      </p:sp>
      <p:sp>
        <p:nvSpPr>
          <p:cNvPr id="25" name="Text 21"/>
          <p:cNvSpPr txBox="1"/>
          <p:nvPr/>
        </p:nvSpPr>
        <p:spPr>
          <a:xfrm>
            <a:off x="26289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מבצע ״בית וגן״</a:t>
            </a:r>
            <a:endParaRPr lang="he-IL" sz="1300" dirty="0"/>
          </a:p>
        </p:txBody>
      </p:sp>
      <p:sp>
        <p:nvSpPr>
          <p:cNvPr id="26" name="Shape 22"/>
          <p:cNvSpPr/>
          <p:nvPr/>
        </p:nvSpPr>
        <p:spPr>
          <a:xfrm>
            <a:off x="1460500" y="1905000"/>
            <a:ext cx="190500" cy="190500"/>
          </a:xfrm>
          <a:prstGeom prst="ellipse">
            <a:avLst/>
          </a:prstGeom>
          <a:solidFill>
            <a:srgbClr val="D9B78C"/>
          </a:solidFill>
          <a:ln w="38100">
            <a:solidFill>
              <a:srgbClr val="D9B78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2311400" y="1905000"/>
            <a:ext cx="304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</a:t>
            </a:r>
            <a:endParaRPr lang="he-IL" sz="1500" dirty="0"/>
          </a:p>
        </p:txBody>
      </p:sp>
      <p:sp>
        <p:nvSpPr>
          <p:cNvPr id="28" name="Text 24"/>
          <p:cNvSpPr txBox="1"/>
          <p:nvPr/>
        </p:nvSpPr>
        <p:spPr>
          <a:xfrm>
            <a:off x="812800" y="2184400"/>
            <a:ext cx="1485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3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 עזה</a:t>
            </a:r>
            <a:endParaRPr lang="he-IL" sz="1300" dirty="0"/>
          </a:p>
        </p:txBody>
      </p:sp>
      <p:pic>
        <p:nvPicPr>
          <p:cNvPr id="29" name="Image 1" descr="/tmp/claude-0/-home-user-desktop-tutorial/9088daa5-d593-5866-a256-1b36570fb83b/scratchpad/photos/army-03-team-berets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032500" y="2857500"/>
            <a:ext cx="5346700" cy="3302000"/>
          </a:xfrm>
          <a:prstGeom prst="rect">
            <a:avLst/>
          </a:prstGeom>
        </p:spPr>
      </p:pic>
      <p:pic>
        <p:nvPicPr>
          <p:cNvPr id="30" name="Image 2" descr="/tmp/claude-0/-home-user-desktop-tutorial/9088daa5-d593-5866-a256-1b36570fb83b/scratchpad/photos/04-army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619500" y="2857500"/>
            <a:ext cx="2209800" cy="3302000"/>
          </a:xfrm>
          <a:prstGeom prst="rect">
            <a:avLst/>
          </a:prstGeom>
        </p:spPr>
      </p:pic>
      <p:pic>
        <p:nvPicPr>
          <p:cNvPr id="31" name="Image 3" descr="/tmp/claude-0/-home-user-desktop-tutorial/9088daa5-d593-5866-a256-1b36570fb83b/scratchpad/photos/army-02-stretcher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939800" y="2857500"/>
            <a:ext cx="2476500" cy="3302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הבחירה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985250" y="6832600"/>
            <a:ext cx="32067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3810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8128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מפקדים. שני שיעורים</a:t>
            </a:r>
            <a:endParaRPr lang="he-IL" sz="2600" dirty="0"/>
          </a:p>
        </p:txBody>
      </p:sp>
      <p:sp>
        <p:nvSpPr>
          <p:cNvPr id="10" name="Shape 7"/>
          <p:cNvSpPr/>
          <p:nvPr/>
        </p:nvSpPr>
        <p:spPr>
          <a:xfrm>
            <a:off x="6248400" y="1524000"/>
            <a:ext cx="5130800" cy="4318000"/>
          </a:xfrm>
          <a:prstGeom prst="roundRect">
            <a:avLst>
              <a:gd name="adj" fmla="val 2941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pic>
        <p:nvPicPr>
          <p:cNvPr id="11" name="Image 0" descr="/tmp/claude-0/-home-user-desktop-tutorial/9088daa5-d593-5866-a256-1b36570fb83b/scratchpad/photos/cmd-klein-wid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80175" y="1701800"/>
            <a:ext cx="4667250" cy="381000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426200" y="5588000"/>
            <a:ext cx="477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  ·  המפקצ׳</a:t>
            </a:r>
            <a:endParaRPr lang="he-IL" sz="2200" dirty="0"/>
          </a:p>
        </p:txBody>
      </p:sp>
      <p:sp>
        <p:nvSpPr>
          <p:cNvPr id="13" name="Shape 9"/>
          <p:cNvSpPr/>
          <p:nvPr/>
        </p:nvSpPr>
        <p:spPr>
          <a:xfrm>
            <a:off x="812800" y="1524000"/>
            <a:ext cx="5130800" cy="4318000"/>
          </a:xfrm>
          <a:prstGeom prst="roundRect">
            <a:avLst>
              <a:gd name="adj" fmla="val 2941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pic>
        <p:nvPicPr>
          <p:cNvPr id="14" name="Image 1" descr="/tmp/claude-0/-home-user-desktop-tutorial/9088daa5-d593-5866-a256-1b36570fb83b/scratchpad/photos/cmd-barnash-tight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990600" y="1701800"/>
            <a:ext cx="4775200" cy="3810000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990600" y="5588000"/>
            <a:ext cx="4775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22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ברנש  ·  המג״ד, יונתן צור</a:t>
            </a:r>
            <a:endParaRPr lang="he-IL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661400" y="6832600"/>
            <a:ext cx="35306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he-IL" sz="20000" dirty="0"/>
          </a:p>
        </p:txBody>
      </p:sp>
      <p:sp>
        <p:nvSpPr>
          <p:cNvPr id="7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2616200"/>
            <a:ext cx="965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03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3048000"/>
            <a:ext cx="105664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באוקטובר</a:t>
            </a:r>
            <a:endParaRPr lang="he-IL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343900" y="6832600"/>
            <a:ext cx="38481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3810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6350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עבד בגזרה</a:t>
            </a:r>
            <a:endParaRPr lang="he-IL" sz="2600" dirty="0"/>
          </a:p>
        </p:txBody>
      </p:sp>
      <p:sp>
        <p:nvSpPr>
          <p:cNvPr id="10" name="Shape 7"/>
          <p:cNvSpPr/>
          <p:nvPr/>
        </p:nvSpPr>
        <p:spPr>
          <a:xfrm>
            <a:off x="3238500" y="1270000"/>
            <a:ext cx="5715000" cy="533400"/>
          </a:xfrm>
          <a:prstGeom prst="roundRect">
            <a:avLst>
              <a:gd name="adj" fmla="val 1904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340100" y="1270000"/>
            <a:ext cx="551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סיירת נח״ל תפסה את הגזרה הדרומית</a:t>
            </a:r>
            <a:endParaRPr lang="he-IL" sz="1500" dirty="0"/>
          </a:p>
        </p:txBody>
      </p:sp>
      <p:sp>
        <p:nvSpPr>
          <p:cNvPr id="12" name="Shape 9"/>
          <p:cNvSpPr/>
          <p:nvPr/>
        </p:nvSpPr>
        <p:spPr>
          <a:xfrm>
            <a:off x="6083300" y="1803400"/>
            <a:ext cx="25400" cy="1778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603500" y="1981200"/>
            <a:ext cx="6985000" cy="254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083300" y="2006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330700" y="2006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835900" y="2006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6197600" y="2133600"/>
            <a:ext cx="3302000" cy="698500"/>
          </a:xfrm>
          <a:prstGeom prst="roundRect">
            <a:avLst>
              <a:gd name="adj" fmla="val 14545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299200" y="2197100"/>
            <a:ext cx="30988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מוצב כרם שלום</a:t>
            </a:r>
            <a:endParaRPr lang="he-IL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6299200" y="2482850"/>
            <a:ext cx="309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פלחה״ן</a:t>
            </a:r>
            <a:endParaRPr lang="he-IL" sz="1100" dirty="0"/>
          </a:p>
        </p:txBody>
      </p:sp>
      <p:sp>
        <p:nvSpPr>
          <p:cNvPr id="20" name="Shape 17"/>
          <p:cNvSpPr/>
          <p:nvPr/>
        </p:nvSpPr>
        <p:spPr>
          <a:xfrm>
            <a:off x="2692400" y="2133600"/>
            <a:ext cx="3302000" cy="698500"/>
          </a:xfrm>
          <a:prstGeom prst="roundRect">
            <a:avLst>
              <a:gd name="adj" fmla="val 14545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2794000" y="2197100"/>
            <a:ext cx="30988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מוצב סופה</a:t>
            </a:r>
            <a:endParaRPr lang="he-IL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2794000" y="2482850"/>
            <a:ext cx="3098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פלוגת נ״ט</a:t>
            </a:r>
            <a:endParaRPr lang="he-IL" sz="1100" dirty="0"/>
          </a:p>
        </p:txBody>
      </p:sp>
      <p:sp>
        <p:nvSpPr>
          <p:cNvPr id="23" name="Shape 20"/>
          <p:cNvSpPr/>
          <p:nvPr/>
        </p:nvSpPr>
        <p:spPr>
          <a:xfrm>
            <a:off x="6083300" y="2832100"/>
            <a:ext cx="25400" cy="1778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3238500" y="3009900"/>
            <a:ext cx="5715000" cy="698500"/>
          </a:xfrm>
          <a:prstGeom prst="roundRect">
            <a:avLst>
              <a:gd name="adj" fmla="val 14545"/>
            </a:avLst>
          </a:prstGeom>
          <a:solidFill>
            <a:srgbClr val="D9B78C"/>
          </a:solidFill>
          <a:ln w="19050">
            <a:solidFill>
              <a:srgbClr val="D9B78C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3340100" y="3073400"/>
            <a:ext cx="551180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פלס״ר – הפלוגה שלי</a:t>
            </a:r>
            <a:endParaRPr lang="he-IL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3340100" y="3359150"/>
            <a:ext cx="5511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מחולקת בין שני המוצבים</a:t>
            </a:r>
            <a:endParaRPr lang="he-IL" sz="1100" dirty="0"/>
          </a:p>
        </p:txBody>
      </p:sp>
      <p:sp>
        <p:nvSpPr>
          <p:cNvPr id="27" name="Shape 24"/>
          <p:cNvSpPr/>
          <p:nvPr/>
        </p:nvSpPr>
        <p:spPr>
          <a:xfrm>
            <a:off x="6083300" y="3708400"/>
            <a:ext cx="25400" cy="1778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2603500" y="3886200"/>
            <a:ext cx="6985000" cy="254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2628900" y="3911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083300" y="3911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9537700" y="3911600"/>
            <a:ext cx="25400" cy="1270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992533" y="4038600"/>
            <a:ext cx="3386667" cy="698500"/>
          </a:xfrm>
          <a:prstGeom prst="roundRect">
            <a:avLst>
              <a:gd name="adj" fmla="val 14545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33" name="Text 30"/>
          <p:cNvSpPr txBox="1"/>
          <p:nvPr/>
        </p:nvSpPr>
        <p:spPr>
          <a:xfrm>
            <a:off x="8094133" y="4038600"/>
            <a:ext cx="3183467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תורנות מטבח</a:t>
            </a:r>
            <a:endParaRPr lang="he-IL" sz="1500" dirty="0"/>
          </a:p>
        </p:txBody>
      </p:sp>
      <p:sp>
        <p:nvSpPr>
          <p:cNvPr id="34" name="Shape 31"/>
          <p:cNvSpPr/>
          <p:nvPr/>
        </p:nvSpPr>
        <p:spPr>
          <a:xfrm>
            <a:off x="4402667" y="4038600"/>
            <a:ext cx="3386667" cy="698500"/>
          </a:xfrm>
          <a:prstGeom prst="roundRect">
            <a:avLst>
              <a:gd name="adj" fmla="val 14545"/>
            </a:avLst>
          </a:prstGeom>
          <a:solidFill>
            <a:srgbClr val="D9B78C"/>
          </a:solidFill>
          <a:ln w="19050">
            <a:solidFill>
              <a:srgbClr val="D9B78C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4504267" y="4102100"/>
            <a:ext cx="3183467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עתודה</a:t>
            </a:r>
            <a:endParaRPr lang="he-IL" sz="1500" dirty="0"/>
          </a:p>
        </p:txBody>
      </p:sp>
      <p:sp>
        <p:nvSpPr>
          <p:cNvPr id="36" name="Text 33"/>
          <p:cNvSpPr txBox="1"/>
          <p:nvPr/>
        </p:nvSpPr>
        <p:spPr>
          <a:xfrm>
            <a:off x="4504267" y="4387850"/>
            <a:ext cx="3183467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100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זמין לכל אירוע בגזרה</a:t>
            </a:r>
            <a:endParaRPr lang="he-IL" sz="1100" dirty="0"/>
          </a:p>
        </p:txBody>
      </p:sp>
      <p:sp>
        <p:nvSpPr>
          <p:cNvPr id="37" name="Shape 34"/>
          <p:cNvSpPr/>
          <p:nvPr/>
        </p:nvSpPr>
        <p:spPr>
          <a:xfrm>
            <a:off x="812800" y="4038600"/>
            <a:ext cx="3386667" cy="698500"/>
          </a:xfrm>
          <a:prstGeom prst="roundRect">
            <a:avLst>
              <a:gd name="adj" fmla="val 14545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914400" y="4038600"/>
            <a:ext cx="3183467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כיתת כוננות</a:t>
            </a:r>
            <a:endParaRPr lang="he-IL" sz="1500" dirty="0"/>
          </a:p>
        </p:txBody>
      </p:sp>
      <p:sp>
        <p:nvSpPr>
          <p:cNvPr id="39" name="Shape 36"/>
          <p:cNvSpPr/>
          <p:nvPr/>
        </p:nvSpPr>
        <p:spPr>
          <a:xfrm>
            <a:off x="6083300" y="4737100"/>
            <a:ext cx="25400" cy="177800"/>
          </a:xfrm>
          <a:prstGeom prst="rect">
            <a:avLst/>
          </a:prstGeom>
          <a:solidFill>
            <a:srgbClr val="2A313C"/>
          </a:solidFill>
          <a:ln w="12700">
            <a:solidFill>
              <a:srgbClr val="2A313C"/>
            </a:solidFill>
            <a:prstDash val="solid"/>
          </a:ln>
        </p:spPr>
      </p:sp>
      <p:sp>
        <p:nvSpPr>
          <p:cNvPr id="40" name="Shape 37"/>
          <p:cNvSpPr/>
          <p:nvPr/>
        </p:nvSpPr>
        <p:spPr>
          <a:xfrm>
            <a:off x="3238500" y="4914900"/>
            <a:ext cx="5715000" cy="533400"/>
          </a:xfrm>
          <a:prstGeom prst="roundRect">
            <a:avLst>
              <a:gd name="adj" fmla="val 1904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41" name="Text 38"/>
          <p:cNvSpPr txBox="1"/>
          <p:nvPr/>
        </p:nvSpPr>
        <p:spPr>
          <a:xfrm>
            <a:off x="3340100" y="4914900"/>
            <a:ext cx="55118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משמרת בוקר 05:30  ·  משמרת ערב 18:30</a:t>
            </a:r>
            <a:endParaRPr lang="he-IL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020050" y="6832600"/>
            <a:ext cx="41719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6985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40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נגמ״ש?</a:t>
            </a:r>
            <a:endParaRPr lang="he-IL" sz="4000" dirty="0"/>
          </a:p>
        </p:txBody>
      </p:sp>
      <p:pic>
        <p:nvPicPr>
          <p:cNvPr id="9" name="Image 0" descr="/tmp/claude-0/-home-user-desktop-tutorial/9088daa5-d593-5866-a256-1b36570fb83b/scratchpad/photos/apc-explain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222500" y="1587500"/>
            <a:ext cx="7747000" cy="43561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702550" y="6832600"/>
            <a:ext cx="44894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oct7-00-morn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3937000" cy="5232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156200" y="2159000"/>
            <a:ext cx="62230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5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עליתי למשמרת</a:t>
            </a:r>
            <a:endParaRPr lang="he-IL" sz="5500" dirty="0"/>
          </a:p>
        </p:txBody>
      </p:sp>
      <p:sp>
        <p:nvSpPr>
          <p:cNvPr id="10" name="Text 6"/>
          <p:cNvSpPr txBox="1"/>
          <p:nvPr/>
        </p:nvSpPr>
        <p:spPr>
          <a:xfrm>
            <a:off x="5156200" y="3429000"/>
            <a:ext cx="6223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8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05:30  7.10</a:t>
            </a:r>
            <a:endParaRPr lang="he-IL" sz="2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378700" y="6832600"/>
            <a:ext cx="48133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812800" y="812800"/>
            <a:ext cx="2959100" cy="5232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4178300" y="2095500"/>
            <a:ext cx="72009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75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06:29</a:t>
            </a:r>
            <a:endParaRPr lang="he-IL" sz="7500" dirty="0"/>
          </a:p>
        </p:txBody>
      </p:sp>
      <p:sp>
        <p:nvSpPr>
          <p:cNvPr id="10" name="Text 6"/>
          <p:cNvSpPr txBox="1"/>
          <p:nvPr/>
        </p:nvSpPr>
        <p:spPr>
          <a:xfrm>
            <a:off x="4178300" y="3619500"/>
            <a:ext cx="72009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4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מטח רקטות מעזה</a:t>
            </a:r>
            <a:endParaRPr lang="he-IL" sz="2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061200" y="6832600"/>
            <a:ext cx="51308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2800" y="762000"/>
            <a:ext cx="10566400" cy="5334000"/>
          </a:xfrm>
          <a:prstGeom prst="roundRect">
            <a:avLst>
              <a:gd name="adj" fmla="val 2857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35800" y="990600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2B1A1D"/>
          </a:solidFill>
          <a:ln w="12700">
            <a:solidFill>
              <a:srgbClr val="6E2A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37850" y="1111250"/>
            <a:ext cx="88900" cy="889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99300" y="1028700"/>
            <a:ext cx="349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קשר  ·  7.10, 06:45</a:t>
            </a:r>
            <a:endParaRPr lang="he-IL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219200" y="1016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13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0:09</a:t>
            </a:r>
            <a:endParaRPr lang="he-IL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19200" y="1333500"/>
            <a:ext cx="975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הסמג״ד עידו שני מכריז על מלחמה</a:t>
            </a:r>
            <a:endParaRPr lang="he-IL" sz="26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19200" y="2032000"/>
            <a:ext cx="3556000" cy="200025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19200" y="410845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לחיצה על הסרטון משמיעה את ההקלטה</a:t>
            </a:r>
            <a:endParaRPr lang="he-IL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80000" y="2032000"/>
            <a:ext cx="5892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רבע שעה אחרי מטח הרקטות</a:t>
            </a:r>
            <a:endParaRPr lang="he-IL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080000" y="2413000"/>
            <a:ext cx="5892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600"/>
              </a:spcAft>
              <a:buNone/>
            </a:pPr>
            <a:r>
              <a:rPr lang="he-IL" altLang="en-US" sz="22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הסמג״ד: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2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אנחנו במלחמה! כל אחד הגנה בגזרתו.</a:t>
            </a:r>
            <a:endParaRPr lang="he-IL" sz="2200" dirty="0"/>
          </a:p>
          <a:p>
            <a:pPr algn="r" indent="0" marL="0">
              <a:spcAft>
                <a:spcPts val="600"/>
              </a:spcAft>
              <a:buNone/>
            </a:pPr>
            <a:endParaRPr lang="he-IL" sz="2200" dirty="0"/>
          </a:p>
          <a:p>
            <a:pPr algn="r" indent="0" marL="0">
              <a:spcAft>
                <a:spcPts val="600"/>
              </a:spcAft>
              <a:buNone/>
            </a:pPr>
            <a:r>
              <a:rPr lang="he-IL" altLang="en-US" sz="2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להרוג מחבלים. בהצלחה!</a:t>
            </a:r>
            <a:endParaRPr lang="he-IL" sz="2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6286500"/>
            <a:ext cx="12192000" cy="571500"/>
          </a:xfrm>
          <a:prstGeom prst="rect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5" name="Text 1"/>
          <p:cNvSpPr txBox="1"/>
          <p:nvPr/>
        </p:nvSpPr>
        <p:spPr>
          <a:xfrm>
            <a:off x="812800" y="6350000"/>
            <a:ext cx="10566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באותן דקות, מהצד השני של הכביש</a:t>
            </a:r>
            <a:endParaRPr lang="he-IL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5588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 הקרב</a:t>
            </a:r>
            <a:endParaRPr lang="he-IL" sz="2800" dirty="0"/>
          </a:p>
        </p:txBody>
      </p:sp>
      <p:pic>
        <p:nvPicPr>
          <p:cNvPr id="4" name="Image 0" descr="/tmp/claude-0/-home-user-desktop-tutorial/9088daa5-d593-5866-a256-1b36570fb83b/scratchpad/photos/oct7-04-map-he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1270000"/>
            <a:ext cx="12192000" cy="41656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4152900" y="0"/>
            <a:ext cx="3886200" cy="6858000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8191500" y="812800"/>
            <a:ext cx="3556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5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בינתיים, בתוך המוצב</a:t>
            </a:r>
            <a:endParaRPr lang="he-IL" sz="2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772150" y="6832600"/>
            <a:ext cx="64198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oct7-02-eva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812800"/>
            <a:ext cx="4572000" cy="5232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791200" y="1905000"/>
            <a:ext cx="55880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באותו רגע שנפצעתי,</a:t>
            </a:r>
            <a:endParaRPr lang="he-IL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5791200" y="2603500"/>
            <a:ext cx="5588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0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מחשבה אחת בלבד עברה בראשי…</a:t>
            </a:r>
            <a:endParaRPr lang="he-IL" sz="3000" dirty="0"/>
          </a:p>
        </p:txBody>
      </p:sp>
      <p:sp>
        <p:nvSpPr>
          <p:cNvPr id="11" name="Text 7"/>
          <p:cNvSpPr txBox="1"/>
          <p:nvPr/>
        </p:nvSpPr>
        <p:spPr>
          <a:xfrm>
            <a:off x="5791200" y="3937000"/>
            <a:ext cx="5588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8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תמיד לימדו אותנו: מי שלא ממשיך לתפקד – נשאר עם הטראומה</a:t>
            </a:r>
            <a:endParaRPr lang="he-IL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454650" y="6832600"/>
            <a:ext cx="67373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2800" y="762000"/>
            <a:ext cx="10566400" cy="5334000"/>
          </a:xfrm>
          <a:prstGeom prst="roundRect">
            <a:avLst>
              <a:gd name="adj" fmla="val 2857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35800" y="990600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2B1A1D"/>
          </a:solidFill>
          <a:ln w="12700">
            <a:solidFill>
              <a:srgbClr val="6E2A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37850" y="1111250"/>
            <a:ext cx="88900" cy="889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99300" y="1028700"/>
            <a:ext cx="349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קשר  ·  7.10, 07:45</a:t>
            </a:r>
            <a:endParaRPr lang="he-IL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219200" y="1016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13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0:07</a:t>
            </a:r>
            <a:endParaRPr lang="he-IL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19200" y="1333500"/>
            <a:ext cx="975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הסמל מבקש פינוי</a:t>
            </a:r>
            <a:endParaRPr lang="he-IL" sz="26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19200" y="2032000"/>
            <a:ext cx="3556000" cy="200025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19200" y="410845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לחיצה על הסרטון משמיעה את ההקלטה</a:t>
            </a:r>
            <a:endParaRPr lang="he-IL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80000" y="2032000"/>
            <a:ext cx="5892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שעה בדיוק אחרי הכרזת המלחמה</a:t>
            </a:r>
            <a:endParaRPr lang="he-IL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080000" y="2413000"/>
            <a:ext cx="5892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600"/>
              </a:spcAft>
              <a:buNone/>
            </a:pPr>
            <a:r>
              <a:rPr lang="he-IL" altLang="en-US" sz="19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חכים (מפקד כוח האכזרית):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9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מוכרחים פינוי דחוף.</a:t>
            </a:r>
            <a:endParaRPr lang="he-IL" sz="1900" dirty="0"/>
          </a:p>
          <a:p>
            <a:pPr algn="r" indent="0" marL="0">
              <a:spcAft>
                <a:spcPts val="600"/>
              </a:spcAft>
              <a:buNone/>
            </a:pPr>
            <a:endParaRPr lang="he-IL" sz="1900" dirty="0"/>
          </a:p>
          <a:p>
            <a:pPr algn="r" indent="0" marL="0">
              <a:spcAft>
                <a:spcPts val="600"/>
              </a:spcAft>
              <a:buNone/>
            </a:pPr>
            <a:r>
              <a:rPr lang="he-IL" altLang="en-US" sz="19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9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חכים קבל, אין לנו איך לעזור לכם. אנחנו בניהול אש עם מחבלים.</a:t>
            </a:r>
            <a:endParaRPr lang="he-IL" sz="1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5130800" y="6832600"/>
            <a:ext cx="70612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oct7-01-apc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25600" y="812800"/>
            <a:ext cx="8940800" cy="5029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2800" y="6096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הנגמ״ש שלנו, מצולם מהמקום שבו עמדו המחבלים</a:t>
            </a:r>
            <a:endParaRPr lang="he-IL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813300" y="6832600"/>
            <a:ext cx="73787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2800" y="762000"/>
            <a:ext cx="10566400" cy="5334000"/>
          </a:xfrm>
          <a:prstGeom prst="roundRect">
            <a:avLst>
              <a:gd name="adj" fmla="val 2857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35800" y="990600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2B1A1D"/>
          </a:solidFill>
          <a:ln w="12700">
            <a:solidFill>
              <a:srgbClr val="6E2A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37850" y="1111250"/>
            <a:ext cx="88900" cy="889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99300" y="1028700"/>
            <a:ext cx="349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קשר  ·  7.10, דקות אחרי 07:45</a:t>
            </a:r>
            <a:endParaRPr lang="he-IL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219200" y="1016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13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0:20</a:t>
            </a:r>
            <a:endParaRPr lang="he-IL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19200" y="1333500"/>
            <a:ext cx="975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הכוחות באזור עולים לקשר. כולם מבקשים פינוי</a:t>
            </a:r>
            <a:endParaRPr lang="he-IL" sz="26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19200" y="2032000"/>
            <a:ext cx="3556000" cy="200025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19200" y="410845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לחיצה על הסרטון משמיעה את ההקלטה</a:t>
            </a:r>
            <a:endParaRPr lang="he-IL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80000" y="2032000"/>
            <a:ext cx="5892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מהשני. אין למי לפנות</a:t>
            </a:r>
            <a:endParaRPr lang="he-IL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080000" y="2413000"/>
            <a:ext cx="5892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 (המפקצ׳):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חמ״ל מקליין. תן לי דוח מצב על כוחות פינוי: א. לסופה, ב. לאנדרטת נירים.</a:t>
            </a:r>
            <a:endParaRPr lang="he-IL" sz="1600" dirty="0"/>
          </a:p>
          <a:p>
            <a:pPr algn="r" indent="0" marL="0">
              <a:spcAft>
                <a:spcPts val="600"/>
              </a:spcAft>
              <a:buNone/>
            </a:pPr>
            <a:endParaRPr lang="he-IL" sz="1600" dirty="0"/>
          </a:p>
          <a:p>
            <a:pPr algn="r" indent="0" marL="0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החמ״ליסט: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קיבל. כי אין לי שום מושג. אין פינוי, אין פינוי כרגע. אנחנו חייבים פינוי דחוף, דחוף.</a:t>
            </a:r>
            <a:endParaRPr lang="he-IL" sz="1600" dirty="0"/>
          </a:p>
          <a:p>
            <a:pPr algn="r" indent="0" marL="0">
              <a:spcAft>
                <a:spcPts val="600"/>
              </a:spcAft>
              <a:buNone/>
            </a:pPr>
            <a:endParaRPr lang="he-IL" sz="1600" dirty="0"/>
          </a:p>
          <a:p>
            <a:pPr algn="r" indent="0" marL="0">
              <a:spcAft>
                <a:spcPts val="600"/>
              </a:spcAft>
              <a:buNone/>
            </a:pPr>
            <a:r>
              <a:rPr lang="he-IL" altLang="en-US" sz="16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6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אתה אומר לי? אתה החמ״ל, אחי!</a:t>
            </a:r>
            <a:endParaRPr lang="he-IL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489450" y="6832600"/>
            <a:ext cx="77025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12800" y="762000"/>
            <a:ext cx="10566400" cy="5334000"/>
          </a:xfrm>
          <a:prstGeom prst="roundRect">
            <a:avLst>
              <a:gd name="adj" fmla="val 2857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035800" y="990600"/>
            <a:ext cx="3937000" cy="330200"/>
          </a:xfrm>
          <a:prstGeom prst="roundRect">
            <a:avLst>
              <a:gd name="adj" fmla="val 50000"/>
            </a:avLst>
          </a:prstGeom>
          <a:solidFill>
            <a:srgbClr val="2B1A1D"/>
          </a:solidFill>
          <a:ln w="12700">
            <a:solidFill>
              <a:srgbClr val="6E2A2E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737850" y="1111250"/>
            <a:ext cx="88900" cy="88900"/>
          </a:xfrm>
          <a:prstGeom prst="ellipse">
            <a:avLst/>
          </a:prstGeom>
          <a:solidFill>
            <a:srgbClr val="E5484D"/>
          </a:solidFill>
          <a:ln w="12700">
            <a:solidFill>
              <a:srgbClr val="E5484D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099300" y="1028700"/>
            <a:ext cx="349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הקלטת קשר  ·  7.10, 07:50</a:t>
            </a:r>
            <a:endParaRPr lang="he-IL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1219200" y="10160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13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0:08</a:t>
            </a:r>
            <a:endParaRPr lang="he-IL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19200" y="1333500"/>
            <a:ext cx="9753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 נותן פקודה. והיא מאפסת אותנו</a:t>
            </a:r>
            <a:endParaRPr lang="he-IL" sz="2600" dirty="0"/>
          </a:p>
        </p:txBody>
      </p:sp>
      <p:pic>
        <p:nvPicPr>
          <p:cNvPr id="3" name="Media 0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1219200" y="2032000"/>
            <a:ext cx="3556000" cy="200025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1219200" y="4108450"/>
            <a:ext cx="355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לחיצה על הסרטון משמיעה את ההקלטה</a:t>
            </a:r>
            <a:endParaRPr lang="he-IL" sz="1000" dirty="0"/>
          </a:p>
        </p:txBody>
      </p:sp>
      <p:sp>
        <p:nvSpPr>
          <p:cNvPr id="16" name="Text 12"/>
          <p:cNvSpPr txBox="1"/>
          <p:nvPr/>
        </p:nvSpPr>
        <p:spPr>
          <a:xfrm>
            <a:off x="5080000" y="2032000"/>
            <a:ext cx="5892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המפקצ׳ שדחף אותנו למצוינות במסלול – עכשיו זה נכנס לפעולה</a:t>
            </a:r>
            <a:endParaRPr lang="he-IL" sz="1300" dirty="0"/>
          </a:p>
        </p:txBody>
      </p:sp>
      <p:sp>
        <p:nvSpPr>
          <p:cNvPr id="17" name="Text 13"/>
          <p:cNvSpPr txBox="1"/>
          <p:nvPr/>
        </p:nvSpPr>
        <p:spPr>
          <a:xfrm>
            <a:off x="5080000" y="2413000"/>
            <a:ext cx="589280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600"/>
              </a:spcAft>
              <a:buNone/>
            </a:pPr>
            <a:r>
              <a:rPr lang="he-IL" altLang="en-US" sz="19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קליין למפקד כוח האכזרית: </a:t>
            </a:r>
            <a:pPr algn="r" indent="0" marL="0">
              <a:spcAft>
                <a:spcPts val="600"/>
              </a:spcAft>
              <a:buNone/>
            </a:pPr>
            <a:r>
              <a:rPr lang="he-IL" altLang="en-US" sz="19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תאפס אותם. תקפיאו מצב. תסגרו את כל הפינות.</a:t>
            </a:r>
            <a:endParaRPr lang="he-IL" sz="1900" dirty="0"/>
          </a:p>
          <a:p>
            <a:pPr algn="r" indent="0" marL="0">
              <a:spcAft>
                <a:spcPts val="600"/>
              </a:spcAft>
              <a:buNone/>
            </a:pPr>
            <a:endParaRPr lang="he-IL" sz="1900" dirty="0"/>
          </a:p>
          <a:p>
            <a:pPr algn="r" indent="0" marL="0">
              <a:spcAft>
                <a:spcPts val="600"/>
              </a:spcAft>
              <a:buNone/>
            </a:pPr>
            <a:r>
              <a:rPr lang="he-IL" altLang="en-US" sz="19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ת׳פצועים באמצע, ואל תתנו למחבלים להגיע אליכם.</a:t>
            </a:r>
            <a:endParaRPr lang="he-IL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171950" y="6832600"/>
            <a:ext cx="80200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oct7-evac2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25600" y="812800"/>
            <a:ext cx="8940800" cy="5029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12800" y="6096000"/>
            <a:ext cx="105664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הפינוי. הצוות ליד הנגמ״ש, האלונקות על הקרקע</a:t>
            </a:r>
            <a:endParaRPr lang="he-IL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848100" y="6832600"/>
            <a:ext cx="83439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rehab-00-soroka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432800" y="812800"/>
            <a:ext cx="2946400" cy="5232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812800" y="812800"/>
            <a:ext cx="7315200" cy="5232400"/>
          </a:xfrm>
          <a:prstGeom prst="roundRect">
            <a:avLst>
              <a:gd name="adj" fmla="val 2913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1117600" y="1041400"/>
            <a:ext cx="4445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סורוקה  ·  שעתיים אחרי הפינוי</a:t>
            </a:r>
            <a:endParaRPr lang="he-IL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1117600" y="1041400"/>
            <a:ext cx="1270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0:28</a:t>
            </a:r>
            <a:endParaRPr lang="he-IL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1117600" y="1320800"/>
            <a:ext cx="6705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0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ההודעה הקולית ששלחתי מהמיטה</a:t>
            </a:r>
            <a:endParaRPr lang="he-IL" sz="2000" dirty="0"/>
          </a:p>
        </p:txBody>
      </p:sp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117600" y="1828800"/>
            <a:ext cx="2794000" cy="1574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1117600" y="3454400"/>
            <a:ext cx="2794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 לחיצה משמיעה את ההודעה</a:t>
            </a:r>
            <a:endParaRPr lang="he-IL" sz="1000" dirty="0"/>
          </a:p>
        </p:txBody>
      </p:sp>
      <p:sp>
        <p:nvSpPr>
          <p:cNvPr id="15" name="Text 10"/>
          <p:cNvSpPr txBox="1"/>
          <p:nvPr/>
        </p:nvSpPr>
        <p:spPr>
          <a:xfrm>
            <a:off x="4165600" y="1828800"/>
            <a:ext cx="36576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״אני בסדר גמור.״ עוד לא ידעתי כלום</a:t>
            </a:r>
            <a:endParaRPr lang="he-IL" sz="1300" dirty="0"/>
          </a:p>
        </p:txBody>
      </p:sp>
      <p:sp>
        <p:nvSpPr>
          <p:cNvPr id="16" name="Text 11"/>
          <p:cNvSpPr txBox="1"/>
          <p:nvPr/>
        </p:nvSpPr>
        <p:spPr>
          <a:xfrm>
            <a:off x="4165600" y="2178050"/>
            <a:ext cx="3657600" cy="3581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spcAft>
                <a:spcPts val="400"/>
              </a:spcAft>
              <a:buNone/>
            </a:pPr>
            <a:r>
              <a:rPr lang="he-IL" altLang="en-US" sz="13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חנוך: </a:t>
            </a:r>
            <a:pPr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היי כולם, מה קורה, זה חנוך. מבקש לא להפיץ את ההקלטה, לא בא לי שכל העולם ישמע אותי מדבר.</a:t>
            </a: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הייתי בסופה, הותקלנו מחבלים. קיבלתי כדור ביד, חוץ מזה אני בסדר גמור.</a:t>
            </a: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בגדול דואגים לי, אמא פה, אבא תכף יגיע. כל הצבא עליי, כל הבי״ח עליי. אני בסדר גמור.</a:t>
            </a: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endParaRPr lang="he-IL" sz="1300" dirty="0"/>
          </a:p>
          <a:p>
            <a:pPr algn="r" indent="0" marL="0">
              <a:spcAft>
                <a:spcPts val="400"/>
              </a:spcAft>
              <a:buNone/>
            </a:pPr>
            <a:r>
              <a:rPr lang="he-IL" altLang="en-US" sz="13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אוהב את כולם, נשיקות, נפגש.</a:t>
            </a:r>
            <a:endParaRPr lang="he-IL" sz="13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D9B7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7 באוקטובר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530600" y="6832600"/>
            <a:ext cx="86614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651000"/>
            <a:ext cx="762000" cy="38100"/>
          </a:xfrm>
          <a:prstGeom prst="rect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1905000"/>
            <a:ext cx="10566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60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האמת?</a:t>
            </a:r>
            <a:endParaRPr lang="he-IL" sz="6000" dirty="0"/>
          </a:p>
        </p:txBody>
      </p:sp>
      <p:sp>
        <p:nvSpPr>
          <p:cNvPr id="10" name="Text 7"/>
          <p:cNvSpPr txBox="1"/>
          <p:nvPr/>
        </p:nvSpPr>
        <p:spPr>
          <a:xfrm>
            <a:off x="812800" y="3175000"/>
            <a:ext cx="105664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65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הקרב היה החלק הקל</a:t>
            </a:r>
            <a:endParaRPr lang="he-IL" sz="6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3206750" y="6832600"/>
            <a:ext cx="89852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he-IL" sz="20000" dirty="0"/>
          </a:p>
        </p:txBody>
      </p:sp>
      <p:sp>
        <p:nvSpPr>
          <p:cNvPr id="7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2616200"/>
            <a:ext cx="965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04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3048000"/>
            <a:ext cx="105664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ואז הכול נגמר</a:t>
            </a:r>
            <a:endParaRPr lang="he-IL" sz="4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ואז הכול נגמר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889250" y="6832600"/>
            <a:ext cx="93027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0617200" y="1841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2095500"/>
            <a:ext cx="105664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הדבר הכי קשה לא היה הפציעה</a:t>
            </a:r>
            <a:endParaRPr lang="he-IL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12800" y="3048000"/>
            <a:ext cx="10566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6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הדברים שהם לא יספיקו לעשות. המשפחות שנשארו.</a:t>
            </a:r>
            <a:endParaRPr lang="he-IL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812800" y="3746500"/>
            <a:ext cx="105664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מה שנשאר איתי</a:t>
            </a:r>
            <a:endParaRPr lang="he-IL" sz="2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ואז הכול נגמר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565400" y="6832600"/>
            <a:ext cx="96266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4699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שאף אחד לא מכין אותך אליו</a:t>
            </a:r>
            <a:endParaRPr lang="he-IL" sz="3200" dirty="0"/>
          </a:p>
        </p:txBody>
      </p:sp>
      <p:pic>
        <p:nvPicPr>
          <p:cNvPr id="10" name="Image 0" descr="/tmp/claude-0/-home-user-desktop-tutorial/9088daa5-d593-5866-a256-1b36570fb83b/scratchpad/photos/rehab-01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12800" y="1638300"/>
            <a:ext cx="3302000" cy="406400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10922000" y="19177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0922000" y="1917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✚</a:t>
            </a:r>
            <a:endParaRPr lang="he-IL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21200" y="18923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הפציעה</a:t>
            </a:r>
            <a:endParaRPr lang="he-IL" sz="2200" dirty="0"/>
          </a:p>
        </p:txBody>
      </p:sp>
      <p:sp>
        <p:nvSpPr>
          <p:cNvPr id="14" name="Shape 10"/>
          <p:cNvSpPr/>
          <p:nvPr/>
        </p:nvSpPr>
        <p:spPr>
          <a:xfrm>
            <a:off x="10922000" y="29337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10922000" y="2933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⌂</a:t>
            </a:r>
            <a:endParaRPr lang="he-IL" sz="1800" dirty="0"/>
          </a:p>
        </p:txBody>
      </p:sp>
      <p:sp>
        <p:nvSpPr>
          <p:cNvPr id="16" name="Text 12"/>
          <p:cNvSpPr txBox="1"/>
          <p:nvPr/>
        </p:nvSpPr>
        <p:spPr>
          <a:xfrm>
            <a:off x="4521200" y="29083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השיקום</a:t>
            </a:r>
            <a:endParaRPr lang="he-IL" sz="2200" dirty="0"/>
          </a:p>
        </p:txBody>
      </p:sp>
      <p:sp>
        <p:nvSpPr>
          <p:cNvPr id="17" name="Shape 13"/>
          <p:cNvSpPr/>
          <p:nvPr/>
        </p:nvSpPr>
        <p:spPr>
          <a:xfrm>
            <a:off x="10922000" y="39497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10922000" y="3949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♥</a:t>
            </a:r>
            <a:endParaRPr lang="he-IL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521200" y="39243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האובדן</a:t>
            </a:r>
            <a:endParaRPr lang="he-IL" sz="2200" dirty="0"/>
          </a:p>
        </p:txBody>
      </p:sp>
      <p:sp>
        <p:nvSpPr>
          <p:cNvPr id="20" name="Shape 16"/>
          <p:cNvSpPr/>
          <p:nvPr/>
        </p:nvSpPr>
        <p:spPr>
          <a:xfrm>
            <a:off x="10922000" y="49657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22000" y="49657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he-IL" sz="1800" dirty="0"/>
          </a:p>
        </p:txBody>
      </p:sp>
      <p:sp>
        <p:nvSpPr>
          <p:cNvPr id="22" name="Text 18"/>
          <p:cNvSpPr txBox="1"/>
          <p:nvPr/>
        </p:nvSpPr>
        <p:spPr>
          <a:xfrm>
            <a:off x="4521200" y="4940300"/>
            <a:ext cx="6350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החיים שאחרי</a:t>
            </a:r>
            <a:endParaRPr lang="he-IL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ואז הכול נגמר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2247900" y="6832600"/>
            <a:ext cx="99441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52705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מאז</a:t>
            </a:r>
            <a:endParaRPr lang="he-IL" sz="3600" dirty="0"/>
          </a:p>
        </p:txBody>
      </p:sp>
      <p:pic>
        <p:nvPicPr>
          <p:cNvPr id="10" name="Image 0" descr="/tmp/claude-0/-home-user-desktop-tutorial/9088daa5-d593-5866-a256-1b36570fb83b/scratchpad/photos/journey-cam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9448800" y="1714500"/>
            <a:ext cx="1930400" cy="330200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9448800" y="5092700"/>
            <a:ext cx="1930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טיולים</a:t>
            </a:r>
            <a:endParaRPr lang="he-IL" sz="1200" dirty="0"/>
          </a:p>
        </p:txBody>
      </p:sp>
      <p:pic>
        <p:nvPicPr>
          <p:cNvPr id="12" name="Image 1" descr="/tmp/claude-0/-home-user-desktop-tutorial/9088daa5-d593-5866-a256-1b36570fb83b/scratchpad/photos/horses-til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289800" y="1714500"/>
            <a:ext cx="1930400" cy="330200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7289800" y="5092700"/>
            <a:ext cx="1930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סוסים</a:t>
            </a:r>
            <a:endParaRPr lang="he-IL" sz="1200" dirty="0"/>
          </a:p>
        </p:txBody>
      </p:sp>
      <p:pic>
        <p:nvPicPr>
          <p:cNvPr id="14" name="Image 2" descr="/tmp/claude-0/-home-user-desktop-tutorial/9088daa5-d593-5866-a256-1b36570fb83b/scratchpad/photos/climb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130800" y="1714500"/>
            <a:ext cx="1930400" cy="33020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5130800" y="5092700"/>
            <a:ext cx="1930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טיפוס</a:t>
            </a:r>
            <a:endParaRPr lang="he-IL" sz="1200" dirty="0"/>
          </a:p>
        </p:txBody>
      </p:sp>
      <p:pic>
        <p:nvPicPr>
          <p:cNvPr id="16" name="Image 3" descr="/tmp/claude-0/-home-user-desktop-tutorial/9088daa5-d593-5866-a256-1b36570fb83b/scratchpad/photos/waterfa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2971800" y="1714500"/>
            <a:ext cx="1930400" cy="3302000"/>
          </a:xfrm>
          <a:prstGeom prst="rect">
            <a:avLst/>
          </a:prstGeom>
        </p:spPr>
      </p:pic>
      <p:sp>
        <p:nvSpPr>
          <p:cNvPr id="17" name="Text 10"/>
          <p:cNvSpPr txBox="1"/>
          <p:nvPr/>
        </p:nvSpPr>
        <p:spPr>
          <a:xfrm>
            <a:off x="2971800" y="5092700"/>
            <a:ext cx="1930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סנפלינג</a:t>
            </a:r>
            <a:endParaRPr lang="he-IL" sz="1200" dirty="0"/>
          </a:p>
        </p:txBody>
      </p:sp>
      <p:pic>
        <p:nvPicPr>
          <p:cNvPr id="18" name="Image 4" descr="/tmp/claude-0/-home-user-desktop-tutorial/9088daa5-d593-5866-a256-1b36570fb83b/scratchpad/photos/journey-lecture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812800" y="1714500"/>
            <a:ext cx="1930400" cy="3302000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812800" y="5092700"/>
            <a:ext cx="1930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2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הרצאות</a:t>
            </a:r>
            <a:endParaRPr lang="he-IL" sz="12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924050" y="6832600"/>
            <a:ext cx="102679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he-IL" sz="20000" dirty="0"/>
          </a:p>
        </p:txBody>
      </p:sp>
      <p:sp>
        <p:nvSpPr>
          <p:cNvPr id="7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2616200"/>
            <a:ext cx="965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05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3048000"/>
            <a:ext cx="105664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6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עושים כשהחיים לא חוזרים להיות מה שהיו?</a:t>
            </a:r>
            <a:endParaRPr lang="he-IL" sz="36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מה עושים כשהחיים לא חוזרים להיות מה שהיו?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1606550" y="6832600"/>
            <a:ext cx="105854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4699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8128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עקרונות</a:t>
            </a:r>
            <a:endParaRPr lang="he-IL" sz="3200" dirty="0"/>
          </a:p>
        </p:txBody>
      </p:sp>
      <p:sp>
        <p:nvSpPr>
          <p:cNvPr id="10" name="Shape 7"/>
          <p:cNvSpPr/>
          <p:nvPr/>
        </p:nvSpPr>
        <p:spPr>
          <a:xfrm>
            <a:off x="8026400" y="1689100"/>
            <a:ext cx="3352800" cy="4152900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331200" y="2095500"/>
            <a:ext cx="274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לא שולט במה שקורה לך</a:t>
            </a:r>
            <a:endParaRPr lang="he-IL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331200" y="3556000"/>
            <a:ext cx="2743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אתה כן שולט במה שאתה עושה עם זה.</a:t>
            </a:r>
            <a:endParaRPr lang="he-IL" sz="1400" dirty="0"/>
          </a:p>
        </p:txBody>
      </p:sp>
      <p:sp>
        <p:nvSpPr>
          <p:cNvPr id="13" name="Shape 10"/>
          <p:cNvSpPr/>
          <p:nvPr/>
        </p:nvSpPr>
        <p:spPr>
          <a:xfrm>
            <a:off x="4419600" y="1689100"/>
            <a:ext cx="3352800" cy="4152900"/>
          </a:xfrm>
          <a:prstGeom prst="roundRect">
            <a:avLst>
              <a:gd name="adj" fmla="val 3788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724400" y="2095500"/>
            <a:ext cx="274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חייבים לדעת את כל הדרך</a:t>
            </a:r>
            <a:endParaRPr lang="he-IL" sz="2200" dirty="0"/>
          </a:p>
        </p:txBody>
      </p:sp>
      <p:sp>
        <p:nvSpPr>
          <p:cNvPr id="15" name="Text 12"/>
          <p:cNvSpPr txBox="1"/>
          <p:nvPr/>
        </p:nvSpPr>
        <p:spPr>
          <a:xfrm>
            <a:off x="4724400" y="3556000"/>
            <a:ext cx="2743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לדעת רק מה הצעד הבא.</a:t>
            </a:r>
            <a:endParaRPr lang="he-IL" sz="1400" dirty="0"/>
          </a:p>
        </p:txBody>
      </p:sp>
      <p:sp>
        <p:nvSpPr>
          <p:cNvPr id="16" name="Shape 13"/>
          <p:cNvSpPr/>
          <p:nvPr/>
        </p:nvSpPr>
        <p:spPr>
          <a:xfrm>
            <a:off x="812800" y="1689100"/>
            <a:ext cx="3352800" cy="4152900"/>
          </a:xfrm>
          <a:prstGeom prst="roundRect">
            <a:avLst>
              <a:gd name="adj" fmla="val 378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1117600" y="2095500"/>
            <a:ext cx="27432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זהות לא מקבלים. בונים</a:t>
            </a:r>
            <a:endParaRPr lang="he-IL" sz="2200" dirty="0"/>
          </a:p>
        </p:txBody>
      </p:sp>
      <p:sp>
        <p:nvSpPr>
          <p:cNvPr id="18" name="Text 15"/>
          <p:cNvSpPr txBox="1"/>
          <p:nvPr/>
        </p:nvSpPr>
        <p:spPr>
          <a:xfrm>
            <a:off x="1117600" y="3556000"/>
            <a:ext cx="27432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הפציעה לא מגדירה אותך. העבר לא מגדיר אותך. גם מה שקרה לך לא מגדיר בהכרח את האדם שתהיה.</a:t>
            </a:r>
            <a:endParaRPr lang="he-IL" sz="14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 / 38</a:t>
            </a:r>
            <a:endParaRPr lang="en-US" sz="1000" dirty="0"/>
          </a:p>
        </p:txBody>
      </p:sp>
      <p:sp>
        <p:nvSpPr>
          <p:cNvPr id="4" name="Shape 1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1282700" y="6832600"/>
            <a:ext cx="109093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12800" y="381000"/>
            <a:ext cx="10566400" cy="266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l" indent="0" marL="0">
              <a:buNone/>
            </a:pPr>
            <a:r>
              <a:rPr lang="he-IL" altLang="en-US" sz="20000" b="1" dirty="0">
                <a:solidFill>
                  <a:srgbClr val="D9B78C">
                    <a:alpha val="9000"/>
                  </a:srgb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he-IL" sz="20000" dirty="0"/>
          </a:p>
        </p:txBody>
      </p:sp>
      <p:sp>
        <p:nvSpPr>
          <p:cNvPr id="7" name="Shape 4"/>
          <p:cNvSpPr/>
          <p:nvPr/>
        </p:nvSpPr>
        <p:spPr>
          <a:xfrm>
            <a:off x="10617200" y="2730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2616200"/>
            <a:ext cx="9652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300" spc="2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פרק 06</a:t>
            </a:r>
            <a:endParaRPr lang="he-IL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12800" y="3048000"/>
            <a:ext cx="105664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48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להפוך כאב למשהו</a:t>
            </a:r>
            <a:endParaRPr lang="he-IL" sz="4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6F3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להפוך כאב למשהו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965200" y="6832600"/>
            <a:ext cx="112268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1734800" y="812800"/>
            <a:ext cx="50800" cy="4699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635000"/>
            <a:ext cx="105664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אני עושה עם זה היום</a:t>
            </a:r>
            <a:endParaRPr lang="he-IL" sz="3200" dirty="0"/>
          </a:p>
        </p:txBody>
      </p:sp>
      <p:sp>
        <p:nvSpPr>
          <p:cNvPr id="10" name="Shape 7"/>
          <p:cNvSpPr/>
          <p:nvPr/>
        </p:nvSpPr>
        <p:spPr>
          <a:xfrm>
            <a:off x="7992533" y="13970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0668000" y="16510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0668000" y="1651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🎓</a:t>
            </a:r>
            <a:endParaRPr lang="he-IL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8246533" y="16510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לימודים</a:t>
            </a:r>
            <a:endParaRPr lang="he-IL" sz="2200" dirty="0"/>
          </a:p>
        </p:txBody>
      </p:sp>
      <p:sp>
        <p:nvSpPr>
          <p:cNvPr id="14" name="Text 11"/>
          <p:cNvSpPr txBox="1"/>
          <p:nvPr/>
        </p:nvSpPr>
        <p:spPr>
          <a:xfrm>
            <a:off x="8246533" y="22860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הנדסאי בניין, ובקרוב – יזמות וקיימות באוניברסיטת רייכמן.</a:t>
            </a:r>
            <a:endParaRPr lang="he-IL" sz="1400" dirty="0"/>
          </a:p>
        </p:txBody>
      </p:sp>
      <p:sp>
        <p:nvSpPr>
          <p:cNvPr id="15" name="Shape 12"/>
          <p:cNvSpPr/>
          <p:nvPr/>
        </p:nvSpPr>
        <p:spPr>
          <a:xfrm>
            <a:off x="4402667" y="13970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078133" y="16510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078133" y="1651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💼</a:t>
            </a:r>
            <a:endParaRPr lang="he-IL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4656667" y="16510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</a:t>
            </a:r>
            <a:endParaRPr lang="he-IL" sz="2200" dirty="0"/>
          </a:p>
        </p:txBody>
      </p:sp>
      <p:sp>
        <p:nvSpPr>
          <p:cNvPr id="19" name="Text 16"/>
          <p:cNvSpPr txBox="1"/>
          <p:nvPr/>
        </p:nvSpPr>
        <p:spPr>
          <a:xfrm>
            <a:off x="4656667" y="22860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עבדתי בכל מיני עבודות – כל אחת לימדה אותי משהו.</a:t>
            </a:r>
            <a:endParaRPr lang="he-IL" sz="1400" dirty="0"/>
          </a:p>
        </p:txBody>
      </p:sp>
      <p:sp>
        <p:nvSpPr>
          <p:cNvPr id="20" name="Shape 17"/>
          <p:cNvSpPr/>
          <p:nvPr/>
        </p:nvSpPr>
        <p:spPr>
          <a:xfrm>
            <a:off x="812800" y="13970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3488267" y="16510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488267" y="1651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🎤</a:t>
            </a:r>
            <a:endParaRPr lang="he-IL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1066800" y="16510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הרצאות</a:t>
            </a:r>
            <a:endParaRPr lang="he-IL" sz="2200" dirty="0"/>
          </a:p>
        </p:txBody>
      </p:sp>
      <p:sp>
        <p:nvSpPr>
          <p:cNvPr id="24" name="Text 21"/>
          <p:cNvSpPr txBox="1"/>
          <p:nvPr/>
        </p:nvSpPr>
        <p:spPr>
          <a:xfrm>
            <a:off x="1066800" y="22860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לעמוד מול אנשים ולספר. לא בשביל רחמים.</a:t>
            </a:r>
            <a:endParaRPr lang="he-IL" sz="1400" dirty="0"/>
          </a:p>
        </p:txBody>
      </p:sp>
      <p:sp>
        <p:nvSpPr>
          <p:cNvPr id="25" name="Shape 22"/>
          <p:cNvSpPr/>
          <p:nvPr/>
        </p:nvSpPr>
        <p:spPr>
          <a:xfrm>
            <a:off x="7992533" y="38862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26" name="Shape 23"/>
          <p:cNvSpPr/>
          <p:nvPr/>
        </p:nvSpPr>
        <p:spPr>
          <a:xfrm>
            <a:off x="10668000" y="41402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10668000" y="414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🚀</a:t>
            </a:r>
            <a:endParaRPr lang="he-IL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8246533" y="41402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קורסים והתנסויות</a:t>
            </a:r>
            <a:endParaRPr lang="he-IL" sz="2200" dirty="0"/>
          </a:p>
        </p:txBody>
      </p:sp>
      <p:sp>
        <p:nvSpPr>
          <p:cNvPr id="29" name="Text 26"/>
          <p:cNvSpPr txBox="1"/>
          <p:nvPr/>
        </p:nvSpPr>
        <p:spPr>
          <a:xfrm>
            <a:off x="8246533" y="47752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מיציתי את עצמי עד הקצה: קורסים, טיולים בעולם, ניסיון בכל דבר.</a:t>
            </a:r>
            <a:endParaRPr lang="he-IL" sz="1400" dirty="0"/>
          </a:p>
        </p:txBody>
      </p:sp>
      <p:sp>
        <p:nvSpPr>
          <p:cNvPr id="30" name="Shape 27"/>
          <p:cNvSpPr/>
          <p:nvPr/>
        </p:nvSpPr>
        <p:spPr>
          <a:xfrm>
            <a:off x="4402667" y="38862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7078133" y="41402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7078133" y="414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◎</a:t>
            </a:r>
            <a:endParaRPr lang="he-IL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656667" y="41402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שאיפות</a:t>
            </a:r>
            <a:endParaRPr lang="he-IL" sz="2200" dirty="0"/>
          </a:p>
        </p:txBody>
      </p:sp>
      <p:sp>
        <p:nvSpPr>
          <p:cNvPr id="34" name="Text 31"/>
          <p:cNvSpPr txBox="1"/>
          <p:nvPr/>
        </p:nvSpPr>
        <p:spPr>
          <a:xfrm>
            <a:off x="4656667" y="47752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לי שאיפות גדולות. אני לא יודע את כל הדרך – אני יודע מה הצעד הבא.</a:t>
            </a:r>
            <a:endParaRPr lang="he-IL" sz="1400" dirty="0"/>
          </a:p>
        </p:txBody>
      </p:sp>
      <p:sp>
        <p:nvSpPr>
          <p:cNvPr id="35" name="Shape 32"/>
          <p:cNvSpPr/>
          <p:nvPr/>
        </p:nvSpPr>
        <p:spPr>
          <a:xfrm>
            <a:off x="812800" y="3886200"/>
            <a:ext cx="3386667" cy="22860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9050">
            <a:solidFill>
              <a:srgbClr val="E2DCD2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3488267" y="4140200"/>
            <a:ext cx="457200" cy="457200"/>
          </a:xfrm>
          <a:prstGeom prst="ellipse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3488267" y="4140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1800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📈</a:t>
            </a:r>
            <a:endParaRPr lang="he-IL" sz="1800" dirty="0"/>
          </a:p>
        </p:txBody>
      </p:sp>
      <p:sp>
        <p:nvSpPr>
          <p:cNvPr id="38" name="Text 35"/>
          <p:cNvSpPr txBox="1"/>
          <p:nvPr/>
        </p:nvSpPr>
        <p:spPr>
          <a:xfrm>
            <a:off x="1066800" y="4140200"/>
            <a:ext cx="229446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1C1F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הרצון להתפתח</a:t>
            </a:r>
            <a:endParaRPr lang="he-IL" sz="2200" dirty="0"/>
          </a:p>
        </p:txBody>
      </p:sp>
      <p:sp>
        <p:nvSpPr>
          <p:cNvPr id="39" name="Text 36"/>
          <p:cNvSpPr txBox="1"/>
          <p:nvPr/>
        </p:nvSpPr>
        <p:spPr>
          <a:xfrm>
            <a:off x="1066800" y="4775200"/>
            <a:ext cx="2878667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4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לעצור. תמיד אפשר להיות יותר טוב.</a:t>
            </a:r>
            <a:endParaRPr lang="he-IL" sz="14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להפוך כאב למשהו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36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41350" y="6832600"/>
            <a:ext cx="115506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5715000" y="1333500"/>
            <a:ext cx="762000" cy="381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12800" y="1587500"/>
            <a:ext cx="105664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2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בהתחלה אמרתי לכם:</a:t>
            </a:r>
            <a:endParaRPr lang="he-IL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12800" y="2032000"/>
            <a:ext cx="105664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3600" b="1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ב־7 באוקטובר קיבלתי החלטה</a:t>
            </a:r>
            <a:endParaRPr lang="he-IL" sz="3600" dirty="0"/>
          </a:p>
        </p:txBody>
      </p:sp>
      <p:sp>
        <p:nvSpPr>
          <p:cNvPr id="11" name="Text 8"/>
          <p:cNvSpPr txBox="1"/>
          <p:nvPr/>
        </p:nvSpPr>
        <p:spPr>
          <a:xfrm>
            <a:off x="812800" y="3302000"/>
            <a:ext cx="105664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22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האמת היא שאני מקבל אותה מחדש</a:t>
            </a:r>
            <a:endParaRPr lang="he-IL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12800" y="3810000"/>
            <a:ext cx="105664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55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בוקר</a:t>
            </a:r>
            <a:endParaRPr lang="he-IL" sz="55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0E111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להפוך כאב למשהו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A7AD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37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1B2028"/>
          </a:solidFill>
          <a:ln w="12700">
            <a:solidFill>
              <a:srgbClr val="1B2028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323850" y="6832600"/>
            <a:ext cx="1186815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12800" y="812800"/>
            <a:ext cx="105664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3000" b="1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ההחלטה הייתה לקחת את ההחלטות בחיים שלי בעצמי</a:t>
            </a:r>
            <a:endParaRPr lang="he-IL" sz="3000" dirty="0"/>
          </a:p>
        </p:txBody>
      </p:sp>
      <p:sp>
        <p:nvSpPr>
          <p:cNvPr id="9" name="Shape 6"/>
          <p:cNvSpPr/>
          <p:nvPr/>
        </p:nvSpPr>
        <p:spPr>
          <a:xfrm>
            <a:off x="8026400" y="2095500"/>
            <a:ext cx="3352800" cy="2921000"/>
          </a:xfrm>
          <a:prstGeom prst="roundRect">
            <a:avLst>
              <a:gd name="adj" fmla="val 434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8280400" y="2540000"/>
            <a:ext cx="2844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40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כיתה י׳</a:t>
            </a:r>
            <a:endParaRPr lang="he-IL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8280400" y="3556000"/>
            <a:ext cx="284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כשהאשימו אותי – החלטתי לכתוב את הסיפור שלי בעצמי.</a:t>
            </a:r>
            <a:endParaRPr lang="he-IL" sz="1500" dirty="0"/>
          </a:p>
        </p:txBody>
      </p:sp>
      <p:sp>
        <p:nvSpPr>
          <p:cNvPr id="12" name="Shape 9"/>
          <p:cNvSpPr/>
          <p:nvPr/>
        </p:nvSpPr>
        <p:spPr>
          <a:xfrm>
            <a:off x="4419600" y="2095500"/>
            <a:ext cx="3352800" cy="2921000"/>
          </a:xfrm>
          <a:prstGeom prst="roundRect">
            <a:avLst>
              <a:gd name="adj" fmla="val 434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673600" y="2540000"/>
            <a:ext cx="2844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40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7.10</a:t>
            </a:r>
            <a:endParaRPr lang="he-IL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673600" y="3556000"/>
            <a:ext cx="284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כשנפצעתי – החלטתי לתפקד ולהמשיך.</a:t>
            </a:r>
            <a:endParaRPr lang="he-IL" sz="1500" dirty="0"/>
          </a:p>
        </p:txBody>
      </p:sp>
      <p:sp>
        <p:nvSpPr>
          <p:cNvPr id="15" name="Shape 12"/>
          <p:cNvSpPr/>
          <p:nvPr/>
        </p:nvSpPr>
        <p:spPr>
          <a:xfrm>
            <a:off x="812800" y="2095500"/>
            <a:ext cx="3352800" cy="2921000"/>
          </a:xfrm>
          <a:prstGeom prst="roundRect">
            <a:avLst>
              <a:gd name="adj" fmla="val 4348"/>
            </a:avLst>
          </a:prstGeom>
          <a:solidFill>
            <a:srgbClr val="171C24"/>
          </a:solidFill>
          <a:ln w="19050">
            <a:solidFill>
              <a:srgbClr val="2A31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066800" y="2540000"/>
            <a:ext cx="2844800" cy="8255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rtl="1" algn="ctr" indent="0" marL="0">
              <a:buNone/>
            </a:pPr>
            <a:r>
              <a:rPr lang="he-IL" altLang="en-US" sz="4000" b="1" dirty="0">
                <a:solidFill>
                  <a:srgbClr val="D9B7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היום</a:t>
            </a:r>
            <a:endParaRPr lang="he-IL" sz="4000" dirty="0"/>
          </a:p>
        </p:txBody>
      </p:sp>
      <p:sp>
        <p:nvSpPr>
          <p:cNvPr id="17" name="Text 14"/>
          <p:cNvSpPr txBox="1"/>
          <p:nvPr/>
        </p:nvSpPr>
        <p:spPr>
          <a:xfrm>
            <a:off x="1066800" y="3556000"/>
            <a:ext cx="2844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ctr" indent="0" marL="0">
              <a:buNone/>
            </a:pPr>
            <a:r>
              <a:rPr lang="he-IL" altLang="en-US" sz="1500" dirty="0">
                <a:solidFill>
                  <a:srgbClr val="F6F3E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כשהחיים לא חזרו למה שהיו – החלטתי לבנות אותם מחדש.</a:t>
            </a:r>
            <a:endParaRPr lang="he-IL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9B78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11315700" y="419100"/>
            <a:ext cx="63500" cy="635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12800" y="330200"/>
            <a:ext cx="10414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100" spc="100" kern="0" dirty="0">
                <a:solidFill>
                  <a:srgbClr val="B892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להפוך כאב למשהו</a:t>
            </a:r>
            <a:endParaRPr lang="he-IL" sz="1100" dirty="0"/>
          </a:p>
        </p:txBody>
      </p:sp>
      <p:sp>
        <p:nvSpPr>
          <p:cNvPr id="5" name="Text 2"/>
          <p:cNvSpPr txBox="1"/>
          <p:nvPr/>
        </p:nvSpPr>
        <p:spPr>
          <a:xfrm>
            <a:off x="812800" y="6350000"/>
            <a:ext cx="127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alt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 / 38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0" y="6832600"/>
            <a:ext cx="12191695" cy="25400"/>
          </a:xfrm>
          <a:prstGeom prst="rect">
            <a:avLst/>
          </a:prstGeom>
          <a:solidFill>
            <a:srgbClr val="E2DCD2"/>
          </a:solidFill>
          <a:ln w="12700">
            <a:solidFill>
              <a:srgbClr val="E2DCD2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6832600"/>
            <a:ext cx="12192000" cy="25400"/>
          </a:xfrm>
          <a:prstGeom prst="rect">
            <a:avLst/>
          </a:prstGeom>
          <a:solidFill>
            <a:srgbClr val="D9B78C"/>
          </a:solidFill>
          <a:ln w="12700">
            <a:solidFill>
              <a:srgbClr val="D9B78C"/>
            </a:solidFill>
            <a:prstDash val="solid"/>
          </a:ln>
        </p:spPr>
      </p:sp>
      <p:pic>
        <p:nvPicPr>
          <p:cNvPr id="8" name="Image 0" descr="/tmp/claude-0/-home-user-desktop-tutorial/9088daa5-d593-5866-a256-1b36570fb83b/scratchpad/photos/final-hors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442200" y="812800"/>
            <a:ext cx="3937000" cy="5232400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6273800" y="1079500"/>
            <a:ext cx="762000" cy="38100"/>
          </a:xfrm>
          <a:prstGeom prst="rect">
            <a:avLst/>
          </a:prstGeom>
          <a:solidFill>
            <a:srgbClr val="0E1116"/>
          </a:solidFill>
          <a:ln w="12700">
            <a:solidFill>
              <a:srgbClr val="0E111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12800" y="1270000"/>
            <a:ext cx="62230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600" b="1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תמיד אנחנו בוחרים את מה שקורה לנו</a:t>
            </a:r>
            <a:endParaRPr lang="he-IL" sz="2600" dirty="0"/>
          </a:p>
        </p:txBody>
      </p:sp>
      <p:sp>
        <p:nvSpPr>
          <p:cNvPr id="11" name="Text 7"/>
          <p:cNvSpPr txBox="1"/>
          <p:nvPr/>
        </p:nvSpPr>
        <p:spPr>
          <a:xfrm>
            <a:off x="812800" y="1841500"/>
            <a:ext cx="6223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38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אבל אנחנו כן בוחרים מה אנחנו עושים מכאן</a:t>
            </a:r>
            <a:endParaRPr lang="he-IL" sz="3800" dirty="0"/>
          </a:p>
        </p:txBody>
      </p:sp>
      <p:sp>
        <p:nvSpPr>
          <p:cNvPr id="12" name="Text 8"/>
          <p:cNvSpPr txBox="1"/>
          <p:nvPr/>
        </p:nvSpPr>
        <p:spPr>
          <a:xfrm>
            <a:off x="812800" y="3556000"/>
            <a:ext cx="62230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2200" b="1" dirty="0">
                <a:solidFill>
                  <a:srgbClr val="0E1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תודה</a:t>
            </a:r>
            <a:endParaRPr lang="he-IL" sz="2200" dirty="0"/>
          </a:p>
        </p:txBody>
      </p:sp>
      <p:pic>
        <p:nvPicPr>
          <p:cNvPr id="13" name="Image 1" descr="/tmp/claude-0/-home-user-desktop-tutorial/9088daa5-d593-5866-a256-1b36570fb83b/scratchpad/photos/qr-instagra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5800" y="4191000"/>
            <a:ext cx="1270000" cy="12700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812800" y="4241800"/>
            <a:ext cx="4749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חנוך  |  054-5522053</a:t>
            </a:r>
            <a:endParaRPr lang="he-IL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812800" y="4622800"/>
            <a:ext cx="4749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Instagram: hanoch234</a:t>
            </a:r>
            <a:endParaRPr lang="he-IL" sz="1500" dirty="0"/>
          </a:p>
        </p:txBody>
      </p:sp>
      <p:sp>
        <p:nvSpPr>
          <p:cNvPr id="16" name="Text 11"/>
          <p:cNvSpPr txBox="1"/>
          <p:nvPr/>
        </p:nvSpPr>
        <p:spPr>
          <a:xfrm>
            <a:off x="812800" y="5003800"/>
            <a:ext cx="4749800" cy="3175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rtl="1" algn="r" indent="0" marL="0">
              <a:buNone/>
            </a:pPr>
            <a:r>
              <a:rPr lang="he-IL" altLang="en-US" sz="1500" dirty="0">
                <a:solidFill>
                  <a:srgbClr val="5A4A3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hanochgo@gmail.com</a:t>
            </a:r>
            <a:endParaRPr lang="he-IL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7.10 – הסיפור שלי</dc:title>
  <dc:subject>PptxGenJS Presentation</dc:subject>
  <dc:creator>חנוך</dc:creator>
  <cp:lastModifiedBy>חנוך</cp:lastModifiedBy>
  <cp:revision>1</cp:revision>
  <dcterms:created xsi:type="dcterms:W3CDTF">2026-09-29T04:08:12Z</dcterms:created>
  <dcterms:modified xsi:type="dcterms:W3CDTF">2026-09-29T04:08:12Z</dcterms:modified>
</cp:coreProperties>
</file>